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21"/>
  </p:notesMasterIdLst>
  <p:handoutMasterIdLst>
    <p:handoutMasterId r:id="rId22"/>
  </p:handoutMasterIdLst>
  <p:sldIdLst>
    <p:sldId id="256" r:id="rId2"/>
    <p:sldId id="257" r:id="rId3"/>
    <p:sldId id="259" r:id="rId4"/>
    <p:sldId id="260" r:id="rId5"/>
    <p:sldId id="262" r:id="rId6"/>
    <p:sldId id="271" r:id="rId7"/>
    <p:sldId id="264" r:id="rId8"/>
    <p:sldId id="265" r:id="rId9"/>
    <p:sldId id="270" r:id="rId10"/>
    <p:sldId id="272" r:id="rId11"/>
    <p:sldId id="266" r:id="rId12"/>
    <p:sldId id="258" r:id="rId13"/>
    <p:sldId id="267" r:id="rId14"/>
    <p:sldId id="268" r:id="rId15"/>
    <p:sldId id="261" r:id="rId16"/>
    <p:sldId id="263" r:id="rId17"/>
    <p:sldId id="269"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248" autoAdjust="0"/>
    <p:restoredTop sz="94660"/>
  </p:normalViewPr>
  <p:slideViewPr>
    <p:cSldViewPr snapToGrid="0">
      <p:cViewPr varScale="1">
        <p:scale>
          <a:sx n="93" d="100"/>
          <a:sy n="93" d="100"/>
        </p:scale>
        <p:origin x="78"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C0C2E9-422E-42CD-B27D-E8560BB427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170F180-3836-40F6-966E-6D882E5660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167EDED-9CBC-40D7-AFB3-DE25A4B18409}" type="datetimeFigureOut">
              <a:rPr lang="en-US" smtClean="0"/>
              <a:t>2/9/2025</a:t>
            </a:fld>
            <a:endParaRPr lang="en-US"/>
          </a:p>
        </p:txBody>
      </p:sp>
      <p:sp>
        <p:nvSpPr>
          <p:cNvPr id="4" name="Footer Placeholder 3">
            <a:extLst>
              <a:ext uri="{FF2B5EF4-FFF2-40B4-BE49-F238E27FC236}">
                <a16:creationId xmlns:a16="http://schemas.microsoft.com/office/drawing/2014/main" id="{73B1A337-59F9-4758-9286-1FB9E1E62F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99131F-052D-4B5F-9206-20BDDC247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27A1C3-4B56-4049-A087-B62417EF5088}" type="slidenum">
              <a:rPr lang="en-US" smtClean="0"/>
              <a:t>‹#›</a:t>
            </a:fld>
            <a:endParaRPr lang="en-US"/>
          </a:p>
        </p:txBody>
      </p:sp>
    </p:spTree>
    <p:extLst>
      <p:ext uri="{BB962C8B-B14F-4D97-AF65-F5344CB8AC3E}">
        <p14:creationId xmlns:p14="http://schemas.microsoft.com/office/powerpoint/2010/main" val="1055125173"/>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2-01T06:01:12.40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1 201,'12'0,"0"-1,13-3,18-1,501-13,-260 14,550-31,-585 34,-126 2,633-1,-745 0,1-1,16-4,16-2,244 6,-144 2,-80 0,79-3,-28-15,10-2,-13 12,68-6,312-23,-435 36,392-15,115 3,-368 13,187 13,-303-6,-1 4,140 40,-153-32,1-2,123 15,-99-20,17 0,-62-11,-12-1,42 6,-64-4,56 9,128 7,483-19,-269-2,419 2,-814 0,0-1,1-1,-1-1,22-6,54-23,-32 9,-31 15,1 1,0 2,-1 0,40 0,19-2,-46-2,7-1,265 3,-186 8,-112 1,1 0,-1 1,1 1,-1 0,16 7,-31-11,7 3,0 0,-1 0,0 1,1 0,-1 0,-1 0,1 1,-1-1,1 1,-1 1,-1-1,1 1,-1 0,0 0,0 0,5 13,1 6,-2 0,0 1,5 33,-5-23,-2 6,-1 0,-2-1,-4 67,0-44,2 6,-3 74,-1-122,-7 27,5-31,2-1,0 1,0 18,3 343,1-160,-1-201,1 0,1-1,0 1,2-1,8 28,-11-42,1 1,-1-1,1 0,-1-1,1 1,0 0,0 0,0-1,1 1,-1-1,0 0,1 0,0 0,-1 0,1 0,0 0,0-1,0 1,0-1,0 0,0 0,1 0,-1 0,0-1,1 1,-1-1,0 0,1 0,-1 0,4-1,10-1,-1-1,1-1,-1 0,26-11,-39 14,54-21,64-23,-101 40,1 0,-1 1,1 0,25 1,314 3,-147 1,55-1,-249-1,0-1,0-1,35-10,15-3,128-30,-138 30,-31 11,1 1,0 2,-1 0,45 4,-14 0,267-2,-317 1,-1-1,0 1,1 1,-1-1,0 2,0-1,8 4,51 29,-33-16,114 65,-24-14,-116-66,-1 0,0 0,-1 1,1 0,-1 0,0 1,0-1,-1 1,1 1,-1-1,-1 1,1-1,-1 1,0 1,-1-1,1 1,-2-1,4 14,2 22,2 76,-10 45,-1-74,1 742,-2-796,-2 0,-14 60,6-33,2 10,4 0,4 95,3-139,-3 3,-1 0,-1 1,-2-2,-2 1,-14 42,19-66,0-1,0 0,-1 0,0 0,0-1,0 1,-1-1,0 0,0 0,0-1,-1 1,-8 5,6-6,-1 0,0 0,0 0,0-1,-1-1,1 1,-1-2,-19 4,-143 7,114-11,-69 11,111-10,-46 8,-94 5,-18 3,26-2,76-13,-230 18,-13-5,22-2,-174 11,-2-26,238-1,-1105 0,922-26,338 20,-259 0,207 8,-721-1,813 1,0 2,0 1,0 2,-50 15,-76 11,142-29,-44 8,-69 9,-128-14,254-6,0 1,0 0,0 0,0 0,0 1,0 0,0 1,-11 5,-5 4,-22 17,33-21,-22 15,1 1,1 2,-40 42,30-31,34-31,0 1,1 0,-1 0,1 0,1 1,-1 0,-6 11,8-8,1 0,-1 0,2 0,-1 1,2-1,0 1,0 0,0 15,2 13,5 43,-5-79,2 22,7 137,-7-146,0 0,0-1,2 1,9 27,2 8,-6-10,-6-24,1-1,0 1,2-1,12 29,7 0,2-1,36 45,-56-82,0-1,0 0,1 0,0-1,0 0,0 0,11 4,9 4,30 10,-16-8,57 24,-67-27,0 0,1-3,0 0,1-2,59 6,287 11,816-26,-1179 0,0-1,0-1,0 0,0-1,24-10,27-6,-49 16,1 2,40-2,40 8,-95-3,52 5,13 1,41-8,53 2,-57 11,325-9,-236-5,-181 2,-1 1,0-1,0-1,-1 0,1-1,20-5,72-24,0 8,-74 17,446-64,-430 64,83-9,139 4,547 11,-794 2,-1 0,1 2,-1 1,0 0,35 14,18 5,-48-19,0 0,49 1,23 3,-78-4,0 1,-1 1,32 15,-2 0,-23-12,-1-2,1 0,49 6,174 10,-179-18,-46-3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29T22:26:24.2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4211 356,'-1'-1,"-1"-1,0 1,0 1,1-1,-1 0,0 0,0 1,0-1,0 1,0-1,-2 1,-27-2,19 2,-295-2,173 3,-51 5,5 0,95-7,-81 2,141 2,-41 11,40-8,-46 5,-85-9,96-3,-117 13,114-5,-120-2,175-5,2 0,-1-1,0 1,1-1,-1-1,1 1,-1-1,1-1,0 1,-1-1,1-1,1 1,-1-1,1 0,-1-1,1 1,0-1,1-1,-1 1,1-1,0 0,0 0,1 0,-6-11,-14-40,-5-8,25 58,0 1,-1-1,1 1,-1 0,-1 0,-10-10,1 3,-32-19,41 29,-1-1,0 1,-1 0,1 1,0 0,-1 0,-14-2,-281 1,164 5,99-2,-164-3,148 0,-87-17,72 4,33 6,0 2,0 2,-47-2,-495 11,488-3,66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29T22:26:35.06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4976 1,'0'0,"-1"0,0 0,1 0,-1 1,1-1,-1 0,1 0,-1 1,1-1,-1 0,1 1,-1-1,1 1,-1-1,1 1,-1-1,1 1,0-1,-1 1,1-1,-1 2,-6 15,5-10,-3 6,0 1,1-1,0 1,-2 26,1 56,5-64,-2 0,-6 35,7-60,-1 0,1 0,-1 0,-1 0,-4 9,6-14,-1 0,1 0,-1 1,0-1,1-1,-1 1,0 0,-1 0,1-1,0 1,0-1,-1 0,1 0,0 0,-1 0,1 0,-1 0,-4 0,-25 3,-1-1,1-2,-42-3,20 0,-1141-2,685 5,424 0,-106-2,98-10,-11-1,-325 10,223 3,-43 0,-265-2,489 0,0-2,0 0,1-2,-1 0,-25-11,36 12,0 0,0 1,-1 1,-18-1,-65 4,47 1,18-3,23 0,0 0,-1 1,1 1,0 0,-1 0,-20 6,29-5,-1 0,1 0,0 0,0 1,0-1,0 1,0 0,-3 3,3-3,0 1,-1-1,1 0,-1 0,-6 3,-3 0,0 0,0-1,0-1,-1 0,-15 2,-71 4,94-10,0 1,0 0,-1 0,1 0,0 1,0 0,0 0,1 0,-1 1,0-1,1 2,0-1,0 0,0 1,0 0,0 0,1 1,-1-1,1 1,1 0,-6 9,3-4,0 1,0-1,2 1,-1 1,1-1,1 1,0 0,1-1,0 1,-1 24,-7 68,-2 43,19 3,0-4,-7 449,-2-562,-8 50,-2 15,12 8,-2 31,-1-114,-9 33,-3 18,9 1,6 97,2-69,-3 16,2 122,-1-236,1 0,-1 0,1 0,0 0,0 0,0 0,1-1,-1 1,1 0,0-1,1 1,-1-1,6 7,-5-8,0 0,1 0,0 0,-1 0,1-1,0 1,0-1,0 0,1 0,-1-1,0 1,1-1,-1 0,10 1,24 1,0-1,52-6,-10 1,466 2,-280 2,-249-1,1-1,-1 0,1-2,-1 0,0-1,0 0,-1-2,1 0,28-15,-26 10,-3 2,28-13,-38 19,-1 2,0-1,1 1,-1-1,1 1,0 1,-1-1,1 1,10 1,54 12,-40-7,52 5,257-10,-169-2,-16-10,-40 1,200 8,-163 23,-60-9,1 0,-60-8,-2 2,1 1,-1 2,46 18,3 1,-56-22,0-1,27 2,25 6,-29-2,0 2,71 33,-106-42,-1 0,1 0,0-1,0-1,20 3,-6-3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8680BD-9FDF-4482-9569-61AAE8D56E1B}" type="datetimeFigureOut">
              <a:rPr lang="en-US" smtClean="0"/>
              <a:t>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463173-2355-40E1-92B6-6E8808A39362}" type="slidenum">
              <a:rPr lang="en-US" smtClean="0"/>
              <a:t>‹#›</a:t>
            </a:fld>
            <a:endParaRPr lang="en-US"/>
          </a:p>
        </p:txBody>
      </p:sp>
    </p:spTree>
    <p:extLst>
      <p:ext uri="{BB962C8B-B14F-4D97-AF65-F5344CB8AC3E}">
        <p14:creationId xmlns:p14="http://schemas.microsoft.com/office/powerpoint/2010/main" val="16869551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9551-CD0E-4DB4-BBC7-C2AE4FA583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B95734-53B5-44E0-B7B6-89EFCC08B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A8A762-7598-43DC-8DBD-59AB1371FD0A}"/>
              </a:ext>
            </a:extLst>
          </p:cNvPr>
          <p:cNvSpPr>
            <a:spLocks noGrp="1"/>
          </p:cNvSpPr>
          <p:nvPr>
            <p:ph type="dt" sz="half" idx="10"/>
          </p:nvPr>
        </p:nvSpPr>
        <p:spPr/>
        <p:txBody>
          <a:bodyPr/>
          <a:lstStyle/>
          <a:p>
            <a:fld id="{837D5AB7-8307-4D83-AA01-8B9BC4D2EF92}" type="datetime1">
              <a:rPr lang="en-US" smtClean="0"/>
              <a:t>2/9/2025</a:t>
            </a:fld>
            <a:endParaRPr lang="en-US" dirty="0"/>
          </a:p>
        </p:txBody>
      </p:sp>
      <p:sp>
        <p:nvSpPr>
          <p:cNvPr id="5" name="Footer Placeholder 4">
            <a:extLst>
              <a:ext uri="{FF2B5EF4-FFF2-40B4-BE49-F238E27FC236}">
                <a16:creationId xmlns:a16="http://schemas.microsoft.com/office/drawing/2014/main" id="{D91B9EB5-669A-4CA7-80FF-95D11DDA5BC2}"/>
              </a:ext>
            </a:extLst>
          </p:cNvPr>
          <p:cNvSpPr>
            <a:spLocks noGrp="1"/>
          </p:cNvSpPr>
          <p:nvPr>
            <p:ph type="ftr" sz="quarter" idx="11"/>
          </p:nvPr>
        </p:nvSpPr>
        <p:spPr/>
        <p:txBody>
          <a:bodyPr/>
          <a:lstStyle/>
          <a:p>
            <a:r>
              <a:rPr lang="en-US" dirty="0"/>
              <a:t>ECE433/533 Boise State University - 2025 - Fady</a:t>
            </a:r>
          </a:p>
        </p:txBody>
      </p:sp>
      <p:sp>
        <p:nvSpPr>
          <p:cNvPr id="6" name="Slide Number Placeholder 5">
            <a:extLst>
              <a:ext uri="{FF2B5EF4-FFF2-40B4-BE49-F238E27FC236}">
                <a16:creationId xmlns:a16="http://schemas.microsoft.com/office/drawing/2014/main" id="{A92529E8-71B2-46B0-958D-7BB6B75DAFE2}"/>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55032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DF28E-EF58-402A-8EBD-601A24D5F3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8AF14B-852E-4832-A1CB-60771C06C9A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D6F422-BBB5-484D-90E5-FD43067BC17C}"/>
              </a:ext>
            </a:extLst>
          </p:cNvPr>
          <p:cNvSpPr>
            <a:spLocks noGrp="1"/>
          </p:cNvSpPr>
          <p:nvPr>
            <p:ph type="dt" sz="half" idx="10"/>
          </p:nvPr>
        </p:nvSpPr>
        <p:spPr/>
        <p:txBody>
          <a:bodyPr/>
          <a:lstStyle/>
          <a:p>
            <a:fld id="{F8C19FE9-99AC-416C-89AD-A42126813D4A}" type="datetime1">
              <a:rPr lang="en-US" smtClean="0"/>
              <a:t>2/9/2025</a:t>
            </a:fld>
            <a:endParaRPr lang="en-US" dirty="0"/>
          </a:p>
        </p:txBody>
      </p:sp>
      <p:sp>
        <p:nvSpPr>
          <p:cNvPr id="5" name="Footer Placeholder 4">
            <a:extLst>
              <a:ext uri="{FF2B5EF4-FFF2-40B4-BE49-F238E27FC236}">
                <a16:creationId xmlns:a16="http://schemas.microsoft.com/office/drawing/2014/main" id="{443303BE-E654-4A46-9778-22E1498BCD82}"/>
              </a:ext>
            </a:extLst>
          </p:cNvPr>
          <p:cNvSpPr>
            <a:spLocks noGrp="1"/>
          </p:cNvSpPr>
          <p:nvPr>
            <p:ph type="ftr" sz="quarter" idx="11"/>
          </p:nvPr>
        </p:nvSpPr>
        <p:spPr/>
        <p:txBody>
          <a:bodyPr/>
          <a:lstStyle/>
          <a:p>
            <a:r>
              <a:rPr lang="en-US" dirty="0"/>
              <a:t>ECE433/533 Boise State University - 2025 - Fady</a:t>
            </a:r>
          </a:p>
        </p:txBody>
      </p:sp>
      <p:sp>
        <p:nvSpPr>
          <p:cNvPr id="6" name="Slide Number Placeholder 5">
            <a:extLst>
              <a:ext uri="{FF2B5EF4-FFF2-40B4-BE49-F238E27FC236}">
                <a16:creationId xmlns:a16="http://schemas.microsoft.com/office/drawing/2014/main" id="{DABB6FB2-29AD-4871-9627-5B8CD37DB5A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61335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A594-51F9-4BE8-AC15-8F8DC4F344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632669-552F-4A7C-87B4-4BEA311EDC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F215EB5-D3A3-406B-A71F-C758D1180A39}"/>
              </a:ext>
            </a:extLst>
          </p:cNvPr>
          <p:cNvSpPr>
            <a:spLocks noGrp="1"/>
          </p:cNvSpPr>
          <p:nvPr>
            <p:ph type="dt" sz="half" idx="10"/>
          </p:nvPr>
        </p:nvSpPr>
        <p:spPr/>
        <p:txBody>
          <a:bodyPr/>
          <a:lstStyle/>
          <a:p>
            <a:fld id="{27DC0493-5313-452F-AE4A-33BC12E76F21}" type="datetime1">
              <a:rPr lang="en-US" smtClean="0"/>
              <a:t>2/9/2025</a:t>
            </a:fld>
            <a:endParaRPr lang="en-US" dirty="0"/>
          </a:p>
        </p:txBody>
      </p:sp>
      <p:sp>
        <p:nvSpPr>
          <p:cNvPr id="5" name="Footer Placeholder 4">
            <a:extLst>
              <a:ext uri="{FF2B5EF4-FFF2-40B4-BE49-F238E27FC236}">
                <a16:creationId xmlns:a16="http://schemas.microsoft.com/office/drawing/2014/main" id="{0112BBB4-8BC0-48D5-8CCA-05D48031C734}"/>
              </a:ext>
            </a:extLst>
          </p:cNvPr>
          <p:cNvSpPr>
            <a:spLocks noGrp="1"/>
          </p:cNvSpPr>
          <p:nvPr>
            <p:ph type="ftr" sz="quarter" idx="11"/>
          </p:nvPr>
        </p:nvSpPr>
        <p:spPr/>
        <p:txBody>
          <a:bodyPr/>
          <a:lstStyle/>
          <a:p>
            <a:r>
              <a:rPr lang="en-US" dirty="0"/>
              <a:t>ECE433/533 Boise State University - 2025 - Fady</a:t>
            </a:r>
          </a:p>
        </p:txBody>
      </p:sp>
      <p:sp>
        <p:nvSpPr>
          <p:cNvPr id="6" name="Slide Number Placeholder 5">
            <a:extLst>
              <a:ext uri="{FF2B5EF4-FFF2-40B4-BE49-F238E27FC236}">
                <a16:creationId xmlns:a16="http://schemas.microsoft.com/office/drawing/2014/main" id="{3198A78A-BD0D-41E9-957B-A4B347BAA013}"/>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97390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2B3E6-1D46-4BC9-AA90-485DF1B443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49F48E-DE53-4DF1-AB74-A5B33D4589E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FF0CB3-0534-4F9F-A7F0-FC7C7BEAD5C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F63788-80BF-4C6D-B00B-1B01A55731CB}"/>
              </a:ext>
            </a:extLst>
          </p:cNvPr>
          <p:cNvSpPr>
            <a:spLocks noGrp="1"/>
          </p:cNvSpPr>
          <p:nvPr>
            <p:ph type="dt" sz="half" idx="10"/>
          </p:nvPr>
        </p:nvSpPr>
        <p:spPr/>
        <p:txBody>
          <a:bodyPr/>
          <a:lstStyle/>
          <a:p>
            <a:fld id="{2C3C70A0-8887-4205-BE69-B353A84703BD}" type="datetime1">
              <a:rPr lang="en-US" smtClean="0"/>
              <a:t>2/9/2025</a:t>
            </a:fld>
            <a:endParaRPr lang="en-US" dirty="0"/>
          </a:p>
        </p:txBody>
      </p:sp>
      <p:sp>
        <p:nvSpPr>
          <p:cNvPr id="6" name="Footer Placeholder 5">
            <a:extLst>
              <a:ext uri="{FF2B5EF4-FFF2-40B4-BE49-F238E27FC236}">
                <a16:creationId xmlns:a16="http://schemas.microsoft.com/office/drawing/2014/main" id="{708CF24E-DFE6-4233-A132-B6A4944868C0}"/>
              </a:ext>
            </a:extLst>
          </p:cNvPr>
          <p:cNvSpPr>
            <a:spLocks noGrp="1"/>
          </p:cNvSpPr>
          <p:nvPr>
            <p:ph type="ftr" sz="quarter" idx="11"/>
          </p:nvPr>
        </p:nvSpPr>
        <p:spPr/>
        <p:txBody>
          <a:bodyPr/>
          <a:lstStyle/>
          <a:p>
            <a:r>
              <a:rPr lang="en-US" dirty="0"/>
              <a:t>ECE433/533 Boise State University - 2025 - Fady</a:t>
            </a:r>
          </a:p>
        </p:txBody>
      </p:sp>
      <p:sp>
        <p:nvSpPr>
          <p:cNvPr id="7" name="Slide Number Placeholder 6">
            <a:extLst>
              <a:ext uri="{FF2B5EF4-FFF2-40B4-BE49-F238E27FC236}">
                <a16:creationId xmlns:a16="http://schemas.microsoft.com/office/drawing/2014/main" id="{DA966E22-2A80-45DB-B32F-85A67D0EFC27}"/>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40456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3F934-ECF9-40F0-98B9-6D002EC866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4CC41A-23D8-46B8-9F68-2B2940A38D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F9E36BD-C302-4F58-9112-F1E56755767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0D9BE2-056E-4A53-8520-1DFBCC49E0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FCBB1BA-1233-4B08-8DEC-E2894EBCE83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DC7895-5FE9-4C13-B466-1AEE3DE0C0DF}"/>
              </a:ext>
            </a:extLst>
          </p:cNvPr>
          <p:cNvSpPr>
            <a:spLocks noGrp="1"/>
          </p:cNvSpPr>
          <p:nvPr>
            <p:ph type="dt" sz="half" idx="10"/>
          </p:nvPr>
        </p:nvSpPr>
        <p:spPr/>
        <p:txBody>
          <a:bodyPr/>
          <a:lstStyle/>
          <a:p>
            <a:fld id="{B8C9E4D4-64B6-4334-8AE1-0366973ACFAE}" type="datetime1">
              <a:rPr lang="en-US" smtClean="0"/>
              <a:t>2/9/2025</a:t>
            </a:fld>
            <a:endParaRPr lang="en-US" dirty="0"/>
          </a:p>
        </p:txBody>
      </p:sp>
      <p:sp>
        <p:nvSpPr>
          <p:cNvPr id="8" name="Footer Placeholder 7">
            <a:extLst>
              <a:ext uri="{FF2B5EF4-FFF2-40B4-BE49-F238E27FC236}">
                <a16:creationId xmlns:a16="http://schemas.microsoft.com/office/drawing/2014/main" id="{1CA394A4-0CD6-469F-9A62-D539D58646A3}"/>
              </a:ext>
            </a:extLst>
          </p:cNvPr>
          <p:cNvSpPr>
            <a:spLocks noGrp="1"/>
          </p:cNvSpPr>
          <p:nvPr>
            <p:ph type="ftr" sz="quarter" idx="11"/>
          </p:nvPr>
        </p:nvSpPr>
        <p:spPr/>
        <p:txBody>
          <a:bodyPr/>
          <a:lstStyle/>
          <a:p>
            <a:r>
              <a:rPr lang="en-US" dirty="0"/>
              <a:t>ECE433/533 Boise State University - 2025 - Fady</a:t>
            </a:r>
          </a:p>
        </p:txBody>
      </p:sp>
      <p:sp>
        <p:nvSpPr>
          <p:cNvPr id="9" name="Slide Number Placeholder 8">
            <a:extLst>
              <a:ext uri="{FF2B5EF4-FFF2-40B4-BE49-F238E27FC236}">
                <a16:creationId xmlns:a16="http://schemas.microsoft.com/office/drawing/2014/main" id="{165C3949-28A5-46D8-ABAF-FE383621547B}"/>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6743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B72BA-9BE9-482E-9390-1C247B876F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6376A2-7528-41FB-8AA0-5C85AAA46CE5}"/>
              </a:ext>
            </a:extLst>
          </p:cNvPr>
          <p:cNvSpPr>
            <a:spLocks noGrp="1"/>
          </p:cNvSpPr>
          <p:nvPr>
            <p:ph type="dt" sz="half" idx="10"/>
          </p:nvPr>
        </p:nvSpPr>
        <p:spPr/>
        <p:txBody>
          <a:bodyPr/>
          <a:lstStyle/>
          <a:p>
            <a:fld id="{9960284E-3751-4722-ABB8-BD6AED1BA864}" type="datetime1">
              <a:rPr lang="en-US" smtClean="0"/>
              <a:t>2/9/2025</a:t>
            </a:fld>
            <a:endParaRPr lang="en-US" dirty="0"/>
          </a:p>
        </p:txBody>
      </p:sp>
      <p:sp>
        <p:nvSpPr>
          <p:cNvPr id="4" name="Footer Placeholder 3">
            <a:extLst>
              <a:ext uri="{FF2B5EF4-FFF2-40B4-BE49-F238E27FC236}">
                <a16:creationId xmlns:a16="http://schemas.microsoft.com/office/drawing/2014/main" id="{43498027-5F6B-4CCA-BB43-A242521C7DD9}"/>
              </a:ext>
            </a:extLst>
          </p:cNvPr>
          <p:cNvSpPr>
            <a:spLocks noGrp="1"/>
          </p:cNvSpPr>
          <p:nvPr>
            <p:ph type="ftr" sz="quarter" idx="11"/>
          </p:nvPr>
        </p:nvSpPr>
        <p:spPr/>
        <p:txBody>
          <a:bodyPr/>
          <a:lstStyle/>
          <a:p>
            <a:r>
              <a:rPr lang="en-US" dirty="0"/>
              <a:t>ECE433/533 Boise State University - 2025 - Fady</a:t>
            </a:r>
          </a:p>
        </p:txBody>
      </p:sp>
      <p:sp>
        <p:nvSpPr>
          <p:cNvPr id="5" name="Slide Number Placeholder 4">
            <a:extLst>
              <a:ext uri="{FF2B5EF4-FFF2-40B4-BE49-F238E27FC236}">
                <a16:creationId xmlns:a16="http://schemas.microsoft.com/office/drawing/2014/main" id="{DB0409D2-8830-4ADB-A9DB-36C2AA344A2E}"/>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99506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134B9D-0733-4BC0-8B2F-4721EEB7B041}"/>
              </a:ext>
            </a:extLst>
          </p:cNvPr>
          <p:cNvSpPr>
            <a:spLocks noGrp="1"/>
          </p:cNvSpPr>
          <p:nvPr>
            <p:ph type="dt" sz="half" idx="10"/>
          </p:nvPr>
        </p:nvSpPr>
        <p:spPr/>
        <p:txBody>
          <a:bodyPr/>
          <a:lstStyle/>
          <a:p>
            <a:fld id="{31BE8A54-49C1-41CB-97DA-1F85D23D117E}" type="datetime1">
              <a:rPr lang="en-US" smtClean="0"/>
              <a:t>2/9/2025</a:t>
            </a:fld>
            <a:endParaRPr lang="en-US" dirty="0"/>
          </a:p>
        </p:txBody>
      </p:sp>
      <p:sp>
        <p:nvSpPr>
          <p:cNvPr id="3" name="Footer Placeholder 2">
            <a:extLst>
              <a:ext uri="{FF2B5EF4-FFF2-40B4-BE49-F238E27FC236}">
                <a16:creationId xmlns:a16="http://schemas.microsoft.com/office/drawing/2014/main" id="{87573643-DFB7-4291-903A-39A1A821299F}"/>
              </a:ext>
            </a:extLst>
          </p:cNvPr>
          <p:cNvSpPr>
            <a:spLocks noGrp="1"/>
          </p:cNvSpPr>
          <p:nvPr>
            <p:ph type="ftr" sz="quarter" idx="11"/>
          </p:nvPr>
        </p:nvSpPr>
        <p:spPr/>
        <p:txBody>
          <a:bodyPr/>
          <a:lstStyle/>
          <a:p>
            <a:r>
              <a:rPr lang="en-US" dirty="0"/>
              <a:t>ECE433/533 Boise State University - 2025 - Fady</a:t>
            </a:r>
          </a:p>
        </p:txBody>
      </p:sp>
      <p:sp>
        <p:nvSpPr>
          <p:cNvPr id="4" name="Slide Number Placeholder 3">
            <a:extLst>
              <a:ext uri="{FF2B5EF4-FFF2-40B4-BE49-F238E27FC236}">
                <a16:creationId xmlns:a16="http://schemas.microsoft.com/office/drawing/2014/main" id="{357F7A0F-9D98-4482-978B-DED1C574A3B8}"/>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12701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69ABA-8B26-4854-B37F-A54F53517B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06DB3D-C17F-4828-9535-7B1CD42498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6AD83F-9687-4378-B4AE-8E26E83B57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25678BA-DA18-4C62-9E8D-8A559A1831B2}"/>
              </a:ext>
            </a:extLst>
          </p:cNvPr>
          <p:cNvSpPr>
            <a:spLocks noGrp="1"/>
          </p:cNvSpPr>
          <p:nvPr>
            <p:ph type="dt" sz="half" idx="10"/>
          </p:nvPr>
        </p:nvSpPr>
        <p:spPr/>
        <p:txBody>
          <a:bodyPr/>
          <a:lstStyle/>
          <a:p>
            <a:fld id="{A45EA5D7-C6B1-4555-8807-05FCD654FC98}" type="datetime1">
              <a:rPr lang="en-US" smtClean="0"/>
              <a:t>2/9/2025</a:t>
            </a:fld>
            <a:endParaRPr lang="en-US" dirty="0"/>
          </a:p>
        </p:txBody>
      </p:sp>
      <p:sp>
        <p:nvSpPr>
          <p:cNvPr id="6" name="Footer Placeholder 5">
            <a:extLst>
              <a:ext uri="{FF2B5EF4-FFF2-40B4-BE49-F238E27FC236}">
                <a16:creationId xmlns:a16="http://schemas.microsoft.com/office/drawing/2014/main" id="{9B3F04ED-77D9-49DB-8137-459B0ABB8BDE}"/>
              </a:ext>
            </a:extLst>
          </p:cNvPr>
          <p:cNvSpPr>
            <a:spLocks noGrp="1"/>
          </p:cNvSpPr>
          <p:nvPr>
            <p:ph type="ftr" sz="quarter" idx="11"/>
          </p:nvPr>
        </p:nvSpPr>
        <p:spPr/>
        <p:txBody>
          <a:bodyPr/>
          <a:lstStyle/>
          <a:p>
            <a:r>
              <a:rPr lang="en-US" dirty="0"/>
              <a:t>ECE433/533 Boise State University - 2025 - Fady</a:t>
            </a:r>
          </a:p>
        </p:txBody>
      </p:sp>
      <p:sp>
        <p:nvSpPr>
          <p:cNvPr id="7" name="Slide Number Placeholder 6">
            <a:extLst>
              <a:ext uri="{FF2B5EF4-FFF2-40B4-BE49-F238E27FC236}">
                <a16:creationId xmlns:a16="http://schemas.microsoft.com/office/drawing/2014/main" id="{74889F5B-B601-4B06-94EC-D79A927FF0A2}"/>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4207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EEB31-D4CF-42BE-9246-8EB2881B3F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D2EBE5-02BC-4400-B0F2-5A80B66293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9E62C4-2A96-4B3B-92AE-847BE3DAF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7525064-E5D2-456A-89D2-0A49928ECFC6}"/>
              </a:ext>
            </a:extLst>
          </p:cNvPr>
          <p:cNvSpPr>
            <a:spLocks noGrp="1"/>
          </p:cNvSpPr>
          <p:nvPr>
            <p:ph type="dt" sz="half" idx="10"/>
          </p:nvPr>
        </p:nvSpPr>
        <p:spPr/>
        <p:txBody>
          <a:bodyPr/>
          <a:lstStyle/>
          <a:p>
            <a:fld id="{96F6C7D2-A209-4397-8571-D18D66DFFF52}" type="datetime1">
              <a:rPr lang="en-US" smtClean="0"/>
              <a:t>2/9/2025</a:t>
            </a:fld>
            <a:endParaRPr lang="en-US" dirty="0"/>
          </a:p>
        </p:txBody>
      </p:sp>
      <p:sp>
        <p:nvSpPr>
          <p:cNvPr id="6" name="Footer Placeholder 5">
            <a:extLst>
              <a:ext uri="{FF2B5EF4-FFF2-40B4-BE49-F238E27FC236}">
                <a16:creationId xmlns:a16="http://schemas.microsoft.com/office/drawing/2014/main" id="{EDDDBFA5-E959-45CA-8D2C-8960D21C2B18}"/>
              </a:ext>
            </a:extLst>
          </p:cNvPr>
          <p:cNvSpPr>
            <a:spLocks noGrp="1"/>
          </p:cNvSpPr>
          <p:nvPr>
            <p:ph type="ftr" sz="quarter" idx="11"/>
          </p:nvPr>
        </p:nvSpPr>
        <p:spPr/>
        <p:txBody>
          <a:bodyPr/>
          <a:lstStyle/>
          <a:p>
            <a:r>
              <a:rPr lang="en-US" dirty="0"/>
              <a:t>ECE433/533 Boise State University - 2025 - Fady</a:t>
            </a:r>
          </a:p>
        </p:txBody>
      </p:sp>
      <p:sp>
        <p:nvSpPr>
          <p:cNvPr id="7" name="Slide Number Placeholder 6">
            <a:extLst>
              <a:ext uri="{FF2B5EF4-FFF2-40B4-BE49-F238E27FC236}">
                <a16:creationId xmlns:a16="http://schemas.microsoft.com/office/drawing/2014/main" id="{BECCA5AD-0DDF-41D7-B50C-0F622B7DC14F}"/>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01628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4331-46FD-4513-8024-CB60D4BE99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CBEF20-D7A4-46EB-9302-82DB29A423A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CEDBFE-BB48-4112-AAB1-75EC5749230C}"/>
              </a:ext>
            </a:extLst>
          </p:cNvPr>
          <p:cNvSpPr>
            <a:spLocks noGrp="1"/>
          </p:cNvSpPr>
          <p:nvPr>
            <p:ph type="dt" sz="half" idx="10"/>
          </p:nvPr>
        </p:nvSpPr>
        <p:spPr/>
        <p:txBody>
          <a:bodyPr/>
          <a:lstStyle/>
          <a:p>
            <a:fld id="{14FB6211-578F-46C8-A47C-C9D9F40AB7B2}" type="datetime1">
              <a:rPr lang="en-US" smtClean="0"/>
              <a:t>2/9/2025</a:t>
            </a:fld>
            <a:endParaRPr lang="en-US" dirty="0"/>
          </a:p>
        </p:txBody>
      </p:sp>
      <p:sp>
        <p:nvSpPr>
          <p:cNvPr id="5" name="Footer Placeholder 4">
            <a:extLst>
              <a:ext uri="{FF2B5EF4-FFF2-40B4-BE49-F238E27FC236}">
                <a16:creationId xmlns:a16="http://schemas.microsoft.com/office/drawing/2014/main" id="{9F8BD716-2843-409A-B6FD-0116AC4E0AD1}"/>
              </a:ext>
            </a:extLst>
          </p:cNvPr>
          <p:cNvSpPr>
            <a:spLocks noGrp="1"/>
          </p:cNvSpPr>
          <p:nvPr>
            <p:ph type="ftr" sz="quarter" idx="11"/>
          </p:nvPr>
        </p:nvSpPr>
        <p:spPr/>
        <p:txBody>
          <a:bodyPr/>
          <a:lstStyle/>
          <a:p>
            <a:r>
              <a:rPr lang="en-US" dirty="0"/>
              <a:t>ECE433/533 Boise State University - 2025 - Fady</a:t>
            </a:r>
          </a:p>
        </p:txBody>
      </p:sp>
      <p:sp>
        <p:nvSpPr>
          <p:cNvPr id="6" name="Slide Number Placeholder 5">
            <a:extLst>
              <a:ext uri="{FF2B5EF4-FFF2-40B4-BE49-F238E27FC236}">
                <a16:creationId xmlns:a16="http://schemas.microsoft.com/office/drawing/2014/main" id="{6805405E-40DF-4413-A41A-662A1546725B}"/>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6833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634969-FF60-42B1-AB98-D033501807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1FB05D-6650-41F1-AAE5-567E6DAF181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2A1204-5D12-491E-AEDF-28E8B194926A}"/>
              </a:ext>
            </a:extLst>
          </p:cNvPr>
          <p:cNvSpPr>
            <a:spLocks noGrp="1"/>
          </p:cNvSpPr>
          <p:nvPr>
            <p:ph type="dt" sz="half" idx="10"/>
          </p:nvPr>
        </p:nvSpPr>
        <p:spPr/>
        <p:txBody>
          <a:bodyPr/>
          <a:lstStyle/>
          <a:p>
            <a:fld id="{96CF0F9D-25F3-44CC-B5B0-8B149846CDBE}" type="datetime1">
              <a:rPr lang="en-US" smtClean="0"/>
              <a:t>2/9/2025</a:t>
            </a:fld>
            <a:endParaRPr lang="en-US" dirty="0"/>
          </a:p>
        </p:txBody>
      </p:sp>
      <p:sp>
        <p:nvSpPr>
          <p:cNvPr id="5" name="Footer Placeholder 4">
            <a:extLst>
              <a:ext uri="{FF2B5EF4-FFF2-40B4-BE49-F238E27FC236}">
                <a16:creationId xmlns:a16="http://schemas.microsoft.com/office/drawing/2014/main" id="{402DAD92-145F-47DD-BC2E-BE22F27F2956}"/>
              </a:ext>
            </a:extLst>
          </p:cNvPr>
          <p:cNvSpPr>
            <a:spLocks noGrp="1"/>
          </p:cNvSpPr>
          <p:nvPr>
            <p:ph type="ftr" sz="quarter" idx="11"/>
          </p:nvPr>
        </p:nvSpPr>
        <p:spPr/>
        <p:txBody>
          <a:bodyPr/>
          <a:lstStyle/>
          <a:p>
            <a:r>
              <a:rPr lang="en-US" dirty="0"/>
              <a:t>ECE433/533 Boise State University - 2025 - Fady</a:t>
            </a:r>
          </a:p>
        </p:txBody>
      </p:sp>
      <p:sp>
        <p:nvSpPr>
          <p:cNvPr id="6" name="Slide Number Placeholder 5">
            <a:extLst>
              <a:ext uri="{FF2B5EF4-FFF2-40B4-BE49-F238E27FC236}">
                <a16:creationId xmlns:a16="http://schemas.microsoft.com/office/drawing/2014/main" id="{97079468-A0BF-4F5E-83D8-B77884B8DA59}"/>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1935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275A66-6083-4F0B-A613-7D8AF3979C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88B137-E2D4-4C7C-BECB-79590BFA58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38698-FA53-4805-BC33-12461DB66F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0E1FA-A3E1-4984-98B9-3FCA8E8E1B6D}" type="datetime1">
              <a:rPr lang="en-US" smtClean="0"/>
              <a:t>2/9/2025</a:t>
            </a:fld>
            <a:endParaRPr lang="en-US" dirty="0"/>
          </a:p>
        </p:txBody>
      </p:sp>
      <p:sp>
        <p:nvSpPr>
          <p:cNvPr id="5" name="Footer Placeholder 4">
            <a:extLst>
              <a:ext uri="{FF2B5EF4-FFF2-40B4-BE49-F238E27FC236}">
                <a16:creationId xmlns:a16="http://schemas.microsoft.com/office/drawing/2014/main" id="{15FBB58A-A274-4177-B6B7-11F85F6E3C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ECE433/533 Boise State University - 2025 - Fady</a:t>
            </a:r>
          </a:p>
        </p:txBody>
      </p:sp>
      <p:sp>
        <p:nvSpPr>
          <p:cNvPr id="6" name="Slide Number Placeholder 5">
            <a:extLst>
              <a:ext uri="{FF2B5EF4-FFF2-40B4-BE49-F238E27FC236}">
                <a16:creationId xmlns:a16="http://schemas.microsoft.com/office/drawing/2014/main" id="{9EF92748-E4BF-4AFD-B0D6-951945B73E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070419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customXml" Target="../ink/ink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st-onlinetraining.s3.amazonaws.com/STM32L5-WDG_TIMERS-General_Purpose_Timer_GPTIM/index.html" TargetMode="External"/><Relationship Id="rId2" Type="http://schemas.openxmlformats.org/officeDocument/2006/relationships/hyperlink" Target="https://github.com/CieNTi/serial_port_plotter/releases" TargetMode="Externa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C3F1C5-E83F-45E8-934F-45D6D0A95D4C}"/>
              </a:ext>
            </a:extLst>
          </p:cNvPr>
          <p:cNvPicPr>
            <a:picLocks noChangeAspect="1"/>
          </p:cNvPicPr>
          <p:nvPr/>
        </p:nvPicPr>
        <p:blipFill>
          <a:blip r:embed="rId2"/>
          <a:stretch>
            <a:fillRect/>
          </a:stretch>
        </p:blipFill>
        <p:spPr>
          <a:xfrm>
            <a:off x="0" y="0"/>
            <a:ext cx="12192000" cy="6857999"/>
          </a:xfrm>
          <a:prstGeom prst="rect">
            <a:avLst/>
          </a:prstGeom>
        </p:spPr>
      </p:pic>
      <p:sp>
        <p:nvSpPr>
          <p:cNvPr id="7" name="Title 6">
            <a:extLst>
              <a:ext uri="{FF2B5EF4-FFF2-40B4-BE49-F238E27FC236}">
                <a16:creationId xmlns:a16="http://schemas.microsoft.com/office/drawing/2014/main" id="{D724530D-987C-43F7-938F-1FCF3C5BC8D5}"/>
              </a:ext>
            </a:extLst>
          </p:cNvPr>
          <p:cNvSpPr>
            <a:spLocks noGrp="1"/>
          </p:cNvSpPr>
          <p:nvPr>
            <p:ph type="ctrTitle"/>
          </p:nvPr>
        </p:nvSpPr>
        <p:spPr>
          <a:xfrm>
            <a:off x="2808514" y="1122363"/>
            <a:ext cx="6587413" cy="2387600"/>
          </a:xfrm>
        </p:spPr>
        <p:txBody>
          <a:bodyPr>
            <a:normAutofit fontScale="90000"/>
          </a:bodyPr>
          <a:lstStyle/>
          <a:p>
            <a:r>
              <a:rPr lang="en-US" b="1" dirty="0">
                <a:solidFill>
                  <a:schemeClr val="bg1"/>
                </a:solidFill>
              </a:rPr>
              <a:t>Communication Counters, Timers and PWM</a:t>
            </a:r>
          </a:p>
        </p:txBody>
      </p:sp>
      <p:sp>
        <p:nvSpPr>
          <p:cNvPr id="8" name="Subtitle 7">
            <a:extLst>
              <a:ext uri="{FF2B5EF4-FFF2-40B4-BE49-F238E27FC236}">
                <a16:creationId xmlns:a16="http://schemas.microsoft.com/office/drawing/2014/main" id="{723C3D5D-C92F-4533-99A1-F608DFA38A91}"/>
              </a:ext>
            </a:extLst>
          </p:cNvPr>
          <p:cNvSpPr>
            <a:spLocks noGrp="1"/>
          </p:cNvSpPr>
          <p:nvPr>
            <p:ph type="subTitle" idx="1"/>
          </p:nvPr>
        </p:nvSpPr>
        <p:spPr>
          <a:xfrm>
            <a:off x="2808512" y="3602038"/>
            <a:ext cx="6587415" cy="885986"/>
          </a:xfrm>
        </p:spPr>
        <p:txBody>
          <a:bodyPr/>
          <a:lstStyle/>
          <a:p>
            <a:r>
              <a:rPr lang="en-US" b="1" dirty="0">
                <a:solidFill>
                  <a:schemeClr val="bg1"/>
                </a:solidFill>
              </a:rPr>
              <a:t>ECE433/ECC533</a:t>
            </a:r>
            <a:endParaRPr lang="en-US" dirty="0"/>
          </a:p>
        </p:txBody>
      </p:sp>
      <p:sp>
        <p:nvSpPr>
          <p:cNvPr id="10" name="Footer Placeholder 9">
            <a:extLst>
              <a:ext uri="{FF2B5EF4-FFF2-40B4-BE49-F238E27FC236}">
                <a16:creationId xmlns:a16="http://schemas.microsoft.com/office/drawing/2014/main" id="{E345CA05-AAA1-4B89-9E32-AFB9BE60F795}"/>
              </a:ext>
            </a:extLst>
          </p:cNvPr>
          <p:cNvSpPr>
            <a:spLocks noGrp="1"/>
          </p:cNvSpPr>
          <p:nvPr>
            <p:ph type="ftr" sz="quarter" idx="11"/>
          </p:nvPr>
        </p:nvSpPr>
        <p:spPr/>
        <p:txBody>
          <a:bodyPr/>
          <a:lstStyle/>
          <a:p>
            <a:r>
              <a:rPr lang="en-US" dirty="0"/>
              <a:t>ECE433/533 Boise State University - 2025 - Fady</a:t>
            </a:r>
          </a:p>
        </p:txBody>
      </p:sp>
    </p:spTree>
    <p:extLst>
      <p:ext uri="{BB962C8B-B14F-4D97-AF65-F5344CB8AC3E}">
        <p14:creationId xmlns:p14="http://schemas.microsoft.com/office/powerpoint/2010/main" val="1807402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82F868-E0D9-ABA4-3CFA-D1C9FF0BAEB5}"/>
              </a:ext>
            </a:extLst>
          </p:cNvPr>
          <p:cNvPicPr>
            <a:picLocks noChangeAspect="1"/>
          </p:cNvPicPr>
          <p:nvPr/>
        </p:nvPicPr>
        <p:blipFill>
          <a:blip r:embed="rId2"/>
          <a:stretch>
            <a:fillRect/>
          </a:stretch>
        </p:blipFill>
        <p:spPr>
          <a:xfrm>
            <a:off x="7522987" y="1469468"/>
            <a:ext cx="4609745" cy="4913569"/>
          </a:xfrm>
          <a:prstGeom prst="rect">
            <a:avLst/>
          </a:prstGeom>
        </p:spPr>
      </p:pic>
      <p:sp>
        <p:nvSpPr>
          <p:cNvPr id="2" name="Title 1">
            <a:extLst>
              <a:ext uri="{FF2B5EF4-FFF2-40B4-BE49-F238E27FC236}">
                <a16:creationId xmlns:a16="http://schemas.microsoft.com/office/drawing/2014/main" id="{7A7D8ADA-8263-4475-8897-D32CEEBA3CC8}"/>
              </a:ext>
            </a:extLst>
          </p:cNvPr>
          <p:cNvSpPr>
            <a:spLocks noGrp="1"/>
          </p:cNvSpPr>
          <p:nvPr>
            <p:ph type="title"/>
          </p:nvPr>
        </p:nvSpPr>
        <p:spPr/>
        <p:txBody>
          <a:bodyPr/>
          <a:lstStyle/>
          <a:p>
            <a:r>
              <a:rPr lang="en-US" dirty="0"/>
              <a:t>What can you do with a counter?</a:t>
            </a:r>
          </a:p>
        </p:txBody>
      </p:sp>
      <p:sp>
        <p:nvSpPr>
          <p:cNvPr id="3" name="Content Placeholder 2">
            <a:extLst>
              <a:ext uri="{FF2B5EF4-FFF2-40B4-BE49-F238E27FC236}">
                <a16:creationId xmlns:a16="http://schemas.microsoft.com/office/drawing/2014/main" id="{4263D72A-329A-453B-8C07-623BC0CAA0E8}"/>
              </a:ext>
            </a:extLst>
          </p:cNvPr>
          <p:cNvSpPr>
            <a:spLocks noGrp="1"/>
          </p:cNvSpPr>
          <p:nvPr>
            <p:ph idx="1"/>
          </p:nvPr>
        </p:nvSpPr>
        <p:spPr>
          <a:xfrm>
            <a:off x="838199" y="1825625"/>
            <a:ext cx="6896101" cy="4351338"/>
          </a:xfrm>
        </p:spPr>
        <p:txBody>
          <a:bodyPr>
            <a:normAutofit lnSpcReduction="10000"/>
          </a:bodyPr>
          <a:lstStyle/>
          <a:p>
            <a:r>
              <a:rPr lang="en-US" dirty="0"/>
              <a:t>Timer if source clock </a:t>
            </a:r>
            <a:r>
              <a:rPr lang="en-US" dirty="0" err="1"/>
              <a:t>freq</a:t>
            </a:r>
            <a:r>
              <a:rPr lang="en-US" dirty="0"/>
              <a:t> is know</a:t>
            </a:r>
          </a:p>
          <a:p>
            <a:r>
              <a:rPr lang="en-US" dirty="0"/>
              <a:t>Counter for events on input signal</a:t>
            </a:r>
          </a:p>
          <a:p>
            <a:pPr lvl="1"/>
            <a:r>
              <a:rPr lang="en-US" dirty="0"/>
              <a:t>Start counting after an event</a:t>
            </a:r>
          </a:p>
          <a:p>
            <a:pPr lvl="1"/>
            <a:r>
              <a:rPr lang="en-US" dirty="0"/>
              <a:t>Count edges of external signal</a:t>
            </a:r>
          </a:p>
          <a:p>
            <a:r>
              <a:rPr lang="en-US" dirty="0"/>
              <a:t>Generate output waveforms </a:t>
            </a:r>
          </a:p>
          <a:p>
            <a:pPr lvl="1"/>
            <a:r>
              <a:rPr lang="en-US" dirty="0"/>
              <a:t>Frequency generator</a:t>
            </a:r>
          </a:p>
          <a:p>
            <a:pPr lvl="1"/>
            <a:r>
              <a:rPr lang="en-US" dirty="0"/>
              <a:t>PWM</a:t>
            </a:r>
          </a:p>
          <a:p>
            <a:r>
              <a:rPr lang="en-US" dirty="0"/>
              <a:t>Capture time on an event</a:t>
            </a:r>
          </a:p>
          <a:p>
            <a:r>
              <a:rPr lang="en-US" dirty="0"/>
              <a:t>Generate a single pulse with programmable delay/width</a:t>
            </a:r>
          </a:p>
          <a:p>
            <a:endParaRPr lang="en-US" dirty="0"/>
          </a:p>
          <a:p>
            <a:pPr lvl="1"/>
            <a:endParaRPr lang="en-US" dirty="0"/>
          </a:p>
        </p:txBody>
      </p:sp>
      <p:sp>
        <p:nvSpPr>
          <p:cNvPr id="4" name="Footer Placeholder 3">
            <a:extLst>
              <a:ext uri="{FF2B5EF4-FFF2-40B4-BE49-F238E27FC236}">
                <a16:creationId xmlns:a16="http://schemas.microsoft.com/office/drawing/2014/main" id="{A5CDEF25-A59B-4144-82D3-C976F6EFC9E2}"/>
              </a:ext>
            </a:extLst>
          </p:cNvPr>
          <p:cNvSpPr>
            <a:spLocks noGrp="1"/>
          </p:cNvSpPr>
          <p:nvPr>
            <p:ph type="ftr" sz="quarter" idx="11"/>
          </p:nvPr>
        </p:nvSpPr>
        <p:spPr/>
        <p:txBody>
          <a:bodyPr/>
          <a:lstStyle/>
          <a:p>
            <a:r>
              <a:rPr lang="en-US" dirty="0"/>
              <a:t>ECE433/533 Boise State University - 2025 - Fady</a:t>
            </a:r>
          </a:p>
        </p:txBody>
      </p:sp>
      <p:sp>
        <p:nvSpPr>
          <p:cNvPr id="5" name="Rectangle 4">
            <a:extLst>
              <a:ext uri="{FF2B5EF4-FFF2-40B4-BE49-F238E27FC236}">
                <a16:creationId xmlns:a16="http://schemas.microsoft.com/office/drawing/2014/main" id="{8E33E2C1-D4C4-40BC-9055-05DB5FDAFCE1}"/>
              </a:ext>
            </a:extLst>
          </p:cNvPr>
          <p:cNvSpPr/>
          <p:nvPr/>
        </p:nvSpPr>
        <p:spPr>
          <a:xfrm>
            <a:off x="10168460" y="778933"/>
            <a:ext cx="1536700" cy="412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Counter</a:t>
            </a:r>
          </a:p>
        </p:txBody>
      </p:sp>
      <p:cxnSp>
        <p:nvCxnSpPr>
          <p:cNvPr id="7" name="Straight Arrow Connector 6">
            <a:extLst>
              <a:ext uri="{FF2B5EF4-FFF2-40B4-BE49-F238E27FC236}">
                <a16:creationId xmlns:a16="http://schemas.microsoft.com/office/drawing/2014/main" id="{5CFEA890-D04B-4ACE-AA94-8EA9787491C2}"/>
              </a:ext>
            </a:extLst>
          </p:cNvPr>
          <p:cNvCxnSpPr>
            <a:cxnSpLocks/>
          </p:cNvCxnSpPr>
          <p:nvPr/>
        </p:nvCxnSpPr>
        <p:spPr>
          <a:xfrm>
            <a:off x="9743001" y="985308"/>
            <a:ext cx="4095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BBCF6F4-EFA2-4120-88F1-4627BA17C546}"/>
              </a:ext>
            </a:extLst>
          </p:cNvPr>
          <p:cNvSpPr txBox="1"/>
          <p:nvPr/>
        </p:nvSpPr>
        <p:spPr>
          <a:xfrm>
            <a:off x="9314376" y="778933"/>
            <a:ext cx="642937" cy="369332"/>
          </a:xfrm>
          <a:prstGeom prst="rect">
            <a:avLst/>
          </a:prstGeom>
          <a:noFill/>
        </p:spPr>
        <p:txBody>
          <a:bodyPr wrap="square" rtlCol="0">
            <a:spAutoFit/>
          </a:bodyPr>
          <a:lstStyle/>
          <a:p>
            <a:r>
              <a:rPr lang="en-US" dirty="0" err="1"/>
              <a:t>Clk</a:t>
            </a:r>
            <a:endParaRPr lang="en-US" dirty="0"/>
          </a:p>
        </p:txBody>
      </p:sp>
    </p:spTree>
    <p:extLst>
      <p:ext uri="{BB962C8B-B14F-4D97-AF65-F5344CB8AC3E}">
        <p14:creationId xmlns:p14="http://schemas.microsoft.com/office/powerpoint/2010/main" val="991233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7A7C4-7DDE-4298-A6EB-3636E66063E7}"/>
              </a:ext>
            </a:extLst>
          </p:cNvPr>
          <p:cNvSpPr>
            <a:spLocks noGrp="1"/>
          </p:cNvSpPr>
          <p:nvPr>
            <p:ph type="title"/>
          </p:nvPr>
        </p:nvSpPr>
        <p:spPr/>
        <p:txBody>
          <a:bodyPr/>
          <a:lstStyle/>
          <a:p>
            <a:r>
              <a:rPr lang="en-US" dirty="0"/>
              <a:t>STM32L552 Timers</a:t>
            </a:r>
          </a:p>
        </p:txBody>
      </p:sp>
      <p:sp>
        <p:nvSpPr>
          <p:cNvPr id="3" name="Content Placeholder 2">
            <a:extLst>
              <a:ext uri="{FF2B5EF4-FFF2-40B4-BE49-F238E27FC236}">
                <a16:creationId xmlns:a16="http://schemas.microsoft.com/office/drawing/2014/main" id="{3BA3D6FD-16B4-4E9D-8CC3-D3218F7BAEDD}"/>
              </a:ext>
            </a:extLst>
          </p:cNvPr>
          <p:cNvSpPr>
            <a:spLocks noGrp="1"/>
          </p:cNvSpPr>
          <p:nvPr>
            <p:ph idx="1"/>
          </p:nvPr>
        </p:nvSpPr>
        <p:spPr/>
        <p:txBody>
          <a:bodyPr/>
          <a:lstStyle/>
          <a:p>
            <a:r>
              <a:rPr lang="en-US" dirty="0"/>
              <a:t>Types:</a:t>
            </a:r>
          </a:p>
          <a:p>
            <a:pPr marL="914400" lvl="1" indent="-457200">
              <a:buFont typeface="+mj-lt"/>
              <a:buAutoNum type="arabicPeriod"/>
            </a:pPr>
            <a:r>
              <a:rPr lang="en-US" dirty="0" err="1"/>
              <a:t>SysTick</a:t>
            </a:r>
            <a:r>
              <a:rPr lang="en-US" dirty="0"/>
              <a:t>  (inside the CPU (Cortex-M33))</a:t>
            </a:r>
          </a:p>
          <a:p>
            <a:pPr marL="914400" lvl="1" indent="-457200">
              <a:buFont typeface="+mj-lt"/>
              <a:buAutoNum type="arabicPeriod"/>
            </a:pPr>
            <a:r>
              <a:rPr lang="en-US" dirty="0"/>
              <a:t>General Purpose Timers  </a:t>
            </a:r>
          </a:p>
          <a:p>
            <a:pPr lvl="2"/>
            <a:r>
              <a:rPr lang="en-US" dirty="0"/>
              <a:t>Advanced (TIM1, TIM8)</a:t>
            </a:r>
          </a:p>
          <a:p>
            <a:pPr lvl="2"/>
            <a:r>
              <a:rPr lang="en-US" dirty="0"/>
              <a:t>Standard (TIM2/3/4/5/15/16/17) and Basic (TIM6/7)</a:t>
            </a:r>
          </a:p>
          <a:p>
            <a:pPr lvl="2"/>
            <a:r>
              <a:rPr lang="en-US" dirty="0"/>
              <a:t>Low-power Timer (</a:t>
            </a:r>
            <a:r>
              <a:rPr lang="en-US" dirty="0" err="1"/>
              <a:t>LPTIMx</a:t>
            </a:r>
            <a:r>
              <a:rPr lang="en-US" dirty="0"/>
              <a:t>)</a:t>
            </a:r>
          </a:p>
          <a:p>
            <a:endParaRPr lang="en-US" dirty="0"/>
          </a:p>
        </p:txBody>
      </p:sp>
      <p:sp>
        <p:nvSpPr>
          <p:cNvPr id="4" name="Footer Placeholder 3">
            <a:extLst>
              <a:ext uri="{FF2B5EF4-FFF2-40B4-BE49-F238E27FC236}">
                <a16:creationId xmlns:a16="http://schemas.microsoft.com/office/drawing/2014/main" id="{CA722A06-4A10-4CEB-9F11-629946331B63}"/>
              </a:ext>
            </a:extLst>
          </p:cNvPr>
          <p:cNvSpPr>
            <a:spLocks noGrp="1"/>
          </p:cNvSpPr>
          <p:nvPr>
            <p:ph type="ftr" sz="quarter" idx="11"/>
          </p:nvPr>
        </p:nvSpPr>
        <p:spPr/>
        <p:txBody>
          <a:bodyPr/>
          <a:lstStyle/>
          <a:p>
            <a:r>
              <a:rPr lang="en-US" dirty="0"/>
              <a:t>ECE433/533 Boise State University - 2025 - Fady</a:t>
            </a:r>
          </a:p>
        </p:txBody>
      </p:sp>
      <p:pic>
        <p:nvPicPr>
          <p:cNvPr id="6" name="Picture 5">
            <a:extLst>
              <a:ext uri="{FF2B5EF4-FFF2-40B4-BE49-F238E27FC236}">
                <a16:creationId xmlns:a16="http://schemas.microsoft.com/office/drawing/2014/main" id="{B0A7B427-037A-4EDA-AD5B-38C47088491C}"/>
              </a:ext>
            </a:extLst>
          </p:cNvPr>
          <p:cNvPicPr>
            <a:picLocks noChangeAspect="1"/>
          </p:cNvPicPr>
          <p:nvPr/>
        </p:nvPicPr>
        <p:blipFill>
          <a:blip r:embed="rId2"/>
          <a:stretch>
            <a:fillRect/>
          </a:stretch>
        </p:blipFill>
        <p:spPr>
          <a:xfrm>
            <a:off x="7723935" y="2366755"/>
            <a:ext cx="4348194" cy="22764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286DBE18-6049-45AF-995B-4330AF8F99BD}"/>
              </a:ext>
            </a:extLst>
          </p:cNvPr>
          <p:cNvSpPr txBox="1"/>
          <p:nvPr/>
        </p:nvSpPr>
        <p:spPr>
          <a:xfrm>
            <a:off x="9108815" y="4778184"/>
            <a:ext cx="2026260" cy="369332"/>
          </a:xfrm>
          <a:prstGeom prst="rect">
            <a:avLst/>
          </a:prstGeom>
          <a:noFill/>
        </p:spPr>
        <p:txBody>
          <a:bodyPr wrap="none" rtlCol="0">
            <a:spAutoFit/>
          </a:bodyPr>
          <a:lstStyle/>
          <a:p>
            <a:r>
              <a:rPr lang="en-US" dirty="0"/>
              <a:t>From the datasheet</a:t>
            </a:r>
          </a:p>
        </p:txBody>
      </p:sp>
    </p:spTree>
    <p:extLst>
      <p:ext uri="{BB962C8B-B14F-4D97-AF65-F5344CB8AC3E}">
        <p14:creationId xmlns:p14="http://schemas.microsoft.com/office/powerpoint/2010/main" val="2737574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5E8D4-FA9C-43D6-BE0D-7E061E85ED03}"/>
              </a:ext>
            </a:extLst>
          </p:cNvPr>
          <p:cNvSpPr>
            <a:spLocks noGrp="1"/>
          </p:cNvSpPr>
          <p:nvPr>
            <p:ph type="title"/>
          </p:nvPr>
        </p:nvSpPr>
        <p:spPr/>
        <p:txBody>
          <a:bodyPr/>
          <a:lstStyle/>
          <a:p>
            <a:r>
              <a:rPr lang="en-US" dirty="0" err="1"/>
              <a:t>SysTick</a:t>
            </a:r>
            <a:endParaRPr lang="en-US" dirty="0"/>
          </a:p>
        </p:txBody>
      </p:sp>
      <p:sp>
        <p:nvSpPr>
          <p:cNvPr id="3" name="Content Placeholder 2">
            <a:extLst>
              <a:ext uri="{FF2B5EF4-FFF2-40B4-BE49-F238E27FC236}">
                <a16:creationId xmlns:a16="http://schemas.microsoft.com/office/drawing/2014/main" id="{45911EE3-2EB0-4619-87B8-6F917D2209E6}"/>
              </a:ext>
            </a:extLst>
          </p:cNvPr>
          <p:cNvSpPr>
            <a:spLocks noGrp="1"/>
          </p:cNvSpPr>
          <p:nvPr>
            <p:ph idx="1"/>
          </p:nvPr>
        </p:nvSpPr>
        <p:spPr>
          <a:xfrm>
            <a:off x="838200" y="1640568"/>
            <a:ext cx="6872288" cy="4524570"/>
          </a:xfrm>
        </p:spPr>
        <p:txBody>
          <a:bodyPr>
            <a:normAutofit/>
          </a:bodyPr>
          <a:lstStyle/>
          <a:p>
            <a:r>
              <a:rPr lang="en-US" sz="2000" dirty="0"/>
              <a:t>24-bit </a:t>
            </a:r>
            <a:r>
              <a:rPr lang="en-US" sz="2000" u="sng" dirty="0">
                <a:solidFill>
                  <a:srgbClr val="FF0000"/>
                </a:solidFill>
              </a:rPr>
              <a:t>Count Down </a:t>
            </a:r>
            <a:r>
              <a:rPr lang="en-US" sz="2000" dirty="0"/>
              <a:t>Timer embedded in the Cortex M33</a:t>
            </a:r>
          </a:p>
          <a:p>
            <a:r>
              <a:rPr lang="en-US" sz="2000" dirty="0"/>
              <a:t>Clock sources either CPU clock (</a:t>
            </a:r>
            <a:r>
              <a:rPr lang="en-US" sz="2000" b="1" dirty="0"/>
              <a:t>1: </a:t>
            </a:r>
            <a:r>
              <a:rPr lang="en-US" sz="2000" dirty="0"/>
              <a:t>HCLK) or </a:t>
            </a:r>
            <a:r>
              <a:rPr lang="en-US" sz="2000" b="1" dirty="0"/>
              <a:t>0: </a:t>
            </a:r>
            <a:r>
              <a:rPr lang="en-US" sz="2000" dirty="0"/>
              <a:t>HCLK/8</a:t>
            </a:r>
          </a:p>
          <a:p>
            <a:r>
              <a:rPr lang="en-US" sz="2000" dirty="0"/>
              <a:t>When current counter value (VAL) transition to 0, VAL will be </a:t>
            </a:r>
            <a:r>
              <a:rPr lang="en-US" sz="2000" u="sng" dirty="0">
                <a:solidFill>
                  <a:srgbClr val="FF0000"/>
                </a:solidFill>
              </a:rPr>
              <a:t>reloaded</a:t>
            </a:r>
            <a:r>
              <a:rPr lang="en-US" sz="2000" dirty="0"/>
              <a:t> with LOAD. COUNTFLAG is asserted.</a:t>
            </a:r>
          </a:p>
          <a:p>
            <a:r>
              <a:rPr lang="en-US" sz="2000" dirty="0"/>
              <a:t>COUNTFLAG is cleared when it is </a:t>
            </a:r>
            <a:r>
              <a:rPr lang="en-US" sz="2000" u="sng" dirty="0">
                <a:solidFill>
                  <a:srgbClr val="FF0000"/>
                </a:solidFill>
              </a:rPr>
              <a:t>read</a:t>
            </a:r>
            <a:r>
              <a:rPr lang="en-US" sz="2000" dirty="0"/>
              <a:t>.</a:t>
            </a:r>
          </a:p>
          <a:p>
            <a:pPr marL="0" indent="0">
              <a:buNone/>
            </a:pPr>
            <a:r>
              <a:rPr lang="en-US" sz="2000" dirty="0"/>
              <a:t>Registers are:</a:t>
            </a:r>
          </a:p>
          <a:p>
            <a:pPr marL="457200" lvl="1" indent="0">
              <a:buNone/>
            </a:pPr>
            <a:r>
              <a:rPr lang="en-US" sz="1800" b="1" dirty="0" err="1">
                <a:latin typeface="Consolas" panose="020B0609020204030204" pitchFamily="49" charset="0"/>
              </a:rPr>
              <a:t>SysTick</a:t>
            </a:r>
            <a:r>
              <a:rPr lang="en-US" sz="1800" b="1" dirty="0">
                <a:latin typeface="Consolas" panose="020B0609020204030204" pitchFamily="49" charset="0"/>
              </a:rPr>
              <a:t>-&gt;LOAD</a:t>
            </a:r>
          </a:p>
          <a:p>
            <a:pPr marL="457200" lvl="1" indent="0">
              <a:buNone/>
            </a:pPr>
            <a:r>
              <a:rPr lang="en-US" sz="1800" b="1" dirty="0" err="1">
                <a:latin typeface="Consolas" panose="020B0609020204030204" pitchFamily="49" charset="0"/>
              </a:rPr>
              <a:t>SysTick</a:t>
            </a:r>
            <a:r>
              <a:rPr lang="en-US" sz="1800" b="1" dirty="0">
                <a:latin typeface="Consolas" panose="020B0609020204030204" pitchFamily="49" charset="0"/>
              </a:rPr>
              <a:t>-&gt;CTRL</a:t>
            </a:r>
          </a:p>
          <a:p>
            <a:pPr marL="457200" lvl="1" indent="0">
              <a:buNone/>
            </a:pPr>
            <a:r>
              <a:rPr lang="en-US" sz="1800" b="1" dirty="0" err="1">
                <a:latin typeface="Consolas" panose="020B0609020204030204" pitchFamily="49" charset="0"/>
              </a:rPr>
              <a:t>SysTick</a:t>
            </a:r>
            <a:r>
              <a:rPr lang="en-US" sz="1800" b="1" dirty="0">
                <a:latin typeface="Consolas" panose="020B0609020204030204" pitchFamily="49" charset="0"/>
              </a:rPr>
              <a:t>-&gt;VAL</a:t>
            </a:r>
          </a:p>
          <a:p>
            <a:pPr marL="0" indent="0">
              <a:buNone/>
            </a:pPr>
            <a:endParaRPr lang="en-US" sz="2000" dirty="0"/>
          </a:p>
          <a:p>
            <a:pPr marL="0" indent="0">
              <a:buNone/>
            </a:pPr>
            <a:r>
              <a:rPr lang="en-US" sz="2000" dirty="0" err="1"/>
              <a:t>SysTick</a:t>
            </a:r>
            <a:r>
              <a:rPr lang="en-US" sz="2000" dirty="0"/>
              <a:t> is defined in cortex_m33.h</a:t>
            </a:r>
          </a:p>
          <a:p>
            <a:pPr marL="0" indent="0">
              <a:buNone/>
            </a:pPr>
            <a:r>
              <a:rPr lang="en-US" sz="2000" b="1" dirty="0">
                <a:solidFill>
                  <a:srgbClr val="00B050"/>
                </a:solidFill>
                <a:latin typeface="Consolas" panose="020B0609020204030204" pitchFamily="49" charset="0"/>
              </a:rPr>
              <a:t>#include </a:t>
            </a:r>
            <a:r>
              <a:rPr lang="en-US" sz="2000" dirty="0">
                <a:latin typeface="Consolas" panose="020B0609020204030204" pitchFamily="49" charset="0"/>
              </a:rPr>
              <a:t>"cortex_m33.h"</a:t>
            </a:r>
          </a:p>
        </p:txBody>
      </p:sp>
      <p:sp>
        <p:nvSpPr>
          <p:cNvPr id="4" name="Footer Placeholder 3">
            <a:extLst>
              <a:ext uri="{FF2B5EF4-FFF2-40B4-BE49-F238E27FC236}">
                <a16:creationId xmlns:a16="http://schemas.microsoft.com/office/drawing/2014/main" id="{4A916F51-6FBE-440C-8693-4B8BE5442B74}"/>
              </a:ext>
            </a:extLst>
          </p:cNvPr>
          <p:cNvSpPr>
            <a:spLocks noGrp="1"/>
          </p:cNvSpPr>
          <p:nvPr>
            <p:ph type="ftr" sz="quarter" idx="11"/>
          </p:nvPr>
        </p:nvSpPr>
        <p:spPr/>
        <p:txBody>
          <a:bodyPr/>
          <a:lstStyle/>
          <a:p>
            <a:r>
              <a:rPr lang="en-US" dirty="0"/>
              <a:t>ECE433/533 Boise State University - 2025 - Fady</a:t>
            </a:r>
          </a:p>
        </p:txBody>
      </p:sp>
      <p:pic>
        <p:nvPicPr>
          <p:cNvPr id="9" name="Picture 8">
            <a:extLst>
              <a:ext uri="{FF2B5EF4-FFF2-40B4-BE49-F238E27FC236}">
                <a16:creationId xmlns:a16="http://schemas.microsoft.com/office/drawing/2014/main" id="{DA89590A-7D19-4E42-9800-001675B8150D}"/>
              </a:ext>
            </a:extLst>
          </p:cNvPr>
          <p:cNvPicPr>
            <a:picLocks noChangeAspect="1"/>
          </p:cNvPicPr>
          <p:nvPr/>
        </p:nvPicPr>
        <p:blipFill>
          <a:blip r:embed="rId2"/>
          <a:stretch>
            <a:fillRect/>
          </a:stretch>
        </p:blipFill>
        <p:spPr>
          <a:xfrm>
            <a:off x="5852161" y="4987989"/>
            <a:ext cx="6042505" cy="1609453"/>
          </a:xfrm>
          <a:prstGeom prst="rect">
            <a:avLst/>
          </a:prstGeom>
        </p:spPr>
      </p:pic>
      <p:grpSp>
        <p:nvGrpSpPr>
          <p:cNvPr id="60" name="Group 59">
            <a:extLst>
              <a:ext uri="{FF2B5EF4-FFF2-40B4-BE49-F238E27FC236}">
                <a16:creationId xmlns:a16="http://schemas.microsoft.com/office/drawing/2014/main" id="{553F2086-CDD6-4325-9E47-B16B5095BA16}"/>
              </a:ext>
            </a:extLst>
          </p:cNvPr>
          <p:cNvGrpSpPr/>
          <p:nvPr/>
        </p:nvGrpSpPr>
        <p:grpSpPr>
          <a:xfrm>
            <a:off x="8071886" y="2727043"/>
            <a:ext cx="4067720" cy="2173443"/>
            <a:chOff x="4161880" y="607698"/>
            <a:chExt cx="4067720" cy="2173443"/>
          </a:xfrm>
        </p:grpSpPr>
        <p:cxnSp>
          <p:nvCxnSpPr>
            <p:cNvPr id="19" name="Straight Connector 18">
              <a:extLst>
                <a:ext uri="{FF2B5EF4-FFF2-40B4-BE49-F238E27FC236}">
                  <a16:creationId xmlns:a16="http://schemas.microsoft.com/office/drawing/2014/main" id="{44D5A621-FD20-49BA-9989-E8394ACDE661}"/>
                </a:ext>
              </a:extLst>
            </p:cNvPr>
            <p:cNvCxnSpPr>
              <a:cxnSpLocks/>
            </p:cNvCxnSpPr>
            <p:nvPr/>
          </p:nvCxnSpPr>
          <p:spPr>
            <a:xfrm flipH="1" flipV="1">
              <a:off x="4972050" y="1436372"/>
              <a:ext cx="986790" cy="9563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F4D1620-D517-4AF3-BF7B-F563826B6B31}"/>
                </a:ext>
              </a:extLst>
            </p:cNvPr>
            <p:cNvCxnSpPr>
              <a:cxnSpLocks/>
            </p:cNvCxnSpPr>
            <p:nvPr/>
          </p:nvCxnSpPr>
          <p:spPr>
            <a:xfrm flipV="1">
              <a:off x="4977050" y="1437563"/>
              <a:ext cx="0" cy="9563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3648531-22AE-40B3-B293-E729E22892A3}"/>
                </a:ext>
              </a:extLst>
            </p:cNvPr>
            <p:cNvCxnSpPr/>
            <p:nvPr/>
          </p:nvCxnSpPr>
          <p:spPr>
            <a:xfrm>
              <a:off x="4819650" y="2392680"/>
              <a:ext cx="340995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EEA4708C-8BDA-49E2-933C-39AD8F0209D6}"/>
                </a:ext>
              </a:extLst>
            </p:cNvPr>
            <p:cNvCxnSpPr>
              <a:cxnSpLocks/>
            </p:cNvCxnSpPr>
            <p:nvPr/>
          </p:nvCxnSpPr>
          <p:spPr>
            <a:xfrm flipV="1">
              <a:off x="4972050" y="1027906"/>
              <a:ext cx="0" cy="1517174"/>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4522E40A-2B93-4540-B6DF-174F06D6B897}"/>
                </a:ext>
              </a:extLst>
            </p:cNvPr>
            <p:cNvCxnSpPr>
              <a:cxnSpLocks/>
            </p:cNvCxnSpPr>
            <p:nvPr/>
          </p:nvCxnSpPr>
          <p:spPr>
            <a:xfrm flipH="1" flipV="1">
              <a:off x="5954752" y="1435182"/>
              <a:ext cx="986790" cy="9563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0407B13-5C99-4D35-AAE9-C0A5BDF626EC}"/>
                </a:ext>
              </a:extLst>
            </p:cNvPr>
            <p:cNvCxnSpPr>
              <a:cxnSpLocks/>
            </p:cNvCxnSpPr>
            <p:nvPr/>
          </p:nvCxnSpPr>
          <p:spPr>
            <a:xfrm flipV="1">
              <a:off x="5959752" y="1436373"/>
              <a:ext cx="0" cy="9563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419CBA6-AD20-4DC9-9DE7-47F41A626F5F}"/>
                </a:ext>
              </a:extLst>
            </p:cNvPr>
            <p:cNvCxnSpPr>
              <a:cxnSpLocks/>
            </p:cNvCxnSpPr>
            <p:nvPr/>
          </p:nvCxnSpPr>
          <p:spPr>
            <a:xfrm flipH="1" flipV="1">
              <a:off x="6931541" y="1432801"/>
              <a:ext cx="986790" cy="9563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3D2F8A6-6DA8-450C-8C14-C15EF4E26FD6}"/>
                </a:ext>
              </a:extLst>
            </p:cNvPr>
            <p:cNvCxnSpPr>
              <a:cxnSpLocks/>
            </p:cNvCxnSpPr>
            <p:nvPr/>
          </p:nvCxnSpPr>
          <p:spPr>
            <a:xfrm flipV="1">
              <a:off x="6936541" y="1433992"/>
              <a:ext cx="0" cy="956308"/>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A612620-CF37-471B-9A4E-3274EC623B90}"/>
                </a:ext>
              </a:extLst>
            </p:cNvPr>
            <p:cNvSpPr txBox="1"/>
            <p:nvPr/>
          </p:nvSpPr>
          <p:spPr>
            <a:xfrm rot="16200000">
              <a:off x="4523874" y="1760571"/>
              <a:ext cx="536109" cy="369332"/>
            </a:xfrm>
            <a:prstGeom prst="rect">
              <a:avLst/>
            </a:prstGeom>
            <a:noFill/>
          </p:spPr>
          <p:txBody>
            <a:bodyPr wrap="none" rtlCol="0">
              <a:spAutoFit/>
            </a:bodyPr>
            <a:lstStyle/>
            <a:p>
              <a:r>
                <a:rPr lang="en-US" dirty="0"/>
                <a:t>VAL</a:t>
              </a:r>
            </a:p>
          </p:txBody>
        </p:sp>
        <p:cxnSp>
          <p:nvCxnSpPr>
            <p:cNvPr id="42" name="Straight Arrow Connector 41">
              <a:extLst>
                <a:ext uri="{FF2B5EF4-FFF2-40B4-BE49-F238E27FC236}">
                  <a16:creationId xmlns:a16="http://schemas.microsoft.com/office/drawing/2014/main" id="{13C81AE3-9C6A-437F-B41E-581F9AB84108}"/>
                </a:ext>
              </a:extLst>
            </p:cNvPr>
            <p:cNvCxnSpPr>
              <a:cxnSpLocks/>
            </p:cNvCxnSpPr>
            <p:nvPr/>
          </p:nvCxnSpPr>
          <p:spPr>
            <a:xfrm>
              <a:off x="4626769" y="1452563"/>
              <a:ext cx="2905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6A2D8CF5-52B4-4205-8C05-2291F564A8A2}"/>
                </a:ext>
              </a:extLst>
            </p:cNvPr>
            <p:cNvSpPr txBox="1"/>
            <p:nvPr/>
          </p:nvSpPr>
          <p:spPr>
            <a:xfrm>
              <a:off x="4161880" y="1321758"/>
              <a:ext cx="505267" cy="261610"/>
            </a:xfrm>
            <a:prstGeom prst="rect">
              <a:avLst/>
            </a:prstGeom>
            <a:noFill/>
          </p:spPr>
          <p:txBody>
            <a:bodyPr wrap="none" rtlCol="0">
              <a:spAutoFit/>
            </a:bodyPr>
            <a:lstStyle/>
            <a:p>
              <a:r>
                <a:rPr lang="en-US" sz="1100" dirty="0"/>
                <a:t>LOAD</a:t>
              </a:r>
            </a:p>
          </p:txBody>
        </p:sp>
        <p:sp>
          <p:nvSpPr>
            <p:cNvPr id="45" name="TextBox 44">
              <a:extLst>
                <a:ext uri="{FF2B5EF4-FFF2-40B4-BE49-F238E27FC236}">
                  <a16:creationId xmlns:a16="http://schemas.microsoft.com/office/drawing/2014/main" id="{96FE8853-2D5E-4C20-B7A2-0CA17297A04E}"/>
                </a:ext>
              </a:extLst>
            </p:cNvPr>
            <p:cNvSpPr txBox="1"/>
            <p:nvPr/>
          </p:nvSpPr>
          <p:spPr>
            <a:xfrm>
              <a:off x="5974073" y="607698"/>
              <a:ext cx="973343" cy="246221"/>
            </a:xfrm>
            <a:prstGeom prst="rect">
              <a:avLst/>
            </a:prstGeom>
            <a:noFill/>
          </p:spPr>
          <p:txBody>
            <a:bodyPr wrap="none" rtlCol="0">
              <a:spAutoFit/>
            </a:bodyPr>
            <a:lstStyle/>
            <a:p>
              <a:r>
                <a:rPr lang="en-US" sz="1000" b="1" dirty="0"/>
                <a:t>COUNTFLAG=1</a:t>
              </a:r>
            </a:p>
          </p:txBody>
        </p:sp>
        <p:cxnSp>
          <p:nvCxnSpPr>
            <p:cNvPr id="47" name="Straight Arrow Connector 46">
              <a:extLst>
                <a:ext uri="{FF2B5EF4-FFF2-40B4-BE49-F238E27FC236}">
                  <a16:creationId xmlns:a16="http://schemas.microsoft.com/office/drawing/2014/main" id="{8389EADA-4356-4B5B-BFCA-2C4EB5D71A88}"/>
                </a:ext>
              </a:extLst>
            </p:cNvPr>
            <p:cNvCxnSpPr>
              <a:stCxn id="45" idx="2"/>
            </p:cNvCxnSpPr>
            <p:nvPr/>
          </p:nvCxnSpPr>
          <p:spPr>
            <a:xfrm flipH="1">
              <a:off x="6019800" y="853919"/>
              <a:ext cx="440945" cy="534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F7737DD-0004-4E45-9505-97D0F8A9396C}"/>
                </a:ext>
              </a:extLst>
            </p:cNvPr>
            <p:cNvCxnSpPr>
              <a:cxnSpLocks/>
              <a:stCxn id="45" idx="2"/>
            </p:cNvCxnSpPr>
            <p:nvPr/>
          </p:nvCxnSpPr>
          <p:spPr>
            <a:xfrm>
              <a:off x="6460745" y="853919"/>
              <a:ext cx="465796" cy="51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C9D1A81-4CF6-493D-9FA5-83414D8CDD01}"/>
                </a:ext>
              </a:extLst>
            </p:cNvPr>
            <p:cNvSpPr txBox="1"/>
            <p:nvPr/>
          </p:nvSpPr>
          <p:spPr>
            <a:xfrm>
              <a:off x="6044106" y="2411809"/>
              <a:ext cx="649537" cy="369332"/>
            </a:xfrm>
            <a:prstGeom prst="rect">
              <a:avLst/>
            </a:prstGeom>
            <a:noFill/>
          </p:spPr>
          <p:txBody>
            <a:bodyPr wrap="none" rtlCol="0">
              <a:spAutoFit/>
            </a:bodyPr>
            <a:lstStyle/>
            <a:p>
              <a:r>
                <a:rPr lang="en-US" dirty="0"/>
                <a:t>Time</a:t>
              </a:r>
            </a:p>
          </p:txBody>
        </p:sp>
      </p:grpSp>
      <p:grpSp>
        <p:nvGrpSpPr>
          <p:cNvPr id="75" name="Group 74">
            <a:extLst>
              <a:ext uri="{FF2B5EF4-FFF2-40B4-BE49-F238E27FC236}">
                <a16:creationId xmlns:a16="http://schemas.microsoft.com/office/drawing/2014/main" id="{56F3BA38-6785-493C-ACB4-5EF0DCCC1DF4}"/>
              </a:ext>
            </a:extLst>
          </p:cNvPr>
          <p:cNvGrpSpPr/>
          <p:nvPr/>
        </p:nvGrpSpPr>
        <p:grpSpPr>
          <a:xfrm>
            <a:off x="6075664" y="188052"/>
            <a:ext cx="5854955" cy="2167121"/>
            <a:chOff x="5710044" y="811570"/>
            <a:chExt cx="5854955" cy="2167121"/>
          </a:xfrm>
        </p:grpSpPr>
        <p:sp>
          <p:nvSpPr>
            <p:cNvPr id="10" name="Rectangle 9">
              <a:extLst>
                <a:ext uri="{FF2B5EF4-FFF2-40B4-BE49-F238E27FC236}">
                  <a16:creationId xmlns:a16="http://schemas.microsoft.com/office/drawing/2014/main" id="{E8D17607-554F-41C3-9265-E40C55C4D154}"/>
                </a:ext>
              </a:extLst>
            </p:cNvPr>
            <p:cNvSpPr/>
            <p:nvPr/>
          </p:nvSpPr>
          <p:spPr>
            <a:xfrm>
              <a:off x="8555566" y="811570"/>
              <a:ext cx="1540933" cy="3640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LOAD</a:t>
              </a:r>
            </a:p>
          </p:txBody>
        </p:sp>
        <p:sp>
          <p:nvSpPr>
            <p:cNvPr id="13" name="Rectangle 12">
              <a:extLst>
                <a:ext uri="{FF2B5EF4-FFF2-40B4-BE49-F238E27FC236}">
                  <a16:creationId xmlns:a16="http://schemas.microsoft.com/office/drawing/2014/main" id="{AC5386E9-DEFB-436A-9121-797566F90947}"/>
                </a:ext>
              </a:extLst>
            </p:cNvPr>
            <p:cNvSpPr/>
            <p:nvPr/>
          </p:nvSpPr>
          <p:spPr>
            <a:xfrm>
              <a:off x="8555567" y="1661054"/>
              <a:ext cx="1540933" cy="3640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VAL  (--)</a:t>
              </a:r>
            </a:p>
          </p:txBody>
        </p:sp>
        <p:sp>
          <p:nvSpPr>
            <p:cNvPr id="14" name="Rectangle 13">
              <a:extLst>
                <a:ext uri="{FF2B5EF4-FFF2-40B4-BE49-F238E27FC236}">
                  <a16:creationId xmlns:a16="http://schemas.microsoft.com/office/drawing/2014/main" id="{E0FB402E-19BB-4A1B-BADC-BCC898B66720}"/>
                </a:ext>
              </a:extLst>
            </p:cNvPr>
            <p:cNvSpPr/>
            <p:nvPr/>
          </p:nvSpPr>
          <p:spPr>
            <a:xfrm>
              <a:off x="8555566" y="2614624"/>
              <a:ext cx="1540933" cy="3640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CTRL</a:t>
              </a:r>
            </a:p>
          </p:txBody>
        </p:sp>
        <p:cxnSp>
          <p:nvCxnSpPr>
            <p:cNvPr id="16" name="Straight Arrow Connector 15">
              <a:extLst>
                <a:ext uri="{FF2B5EF4-FFF2-40B4-BE49-F238E27FC236}">
                  <a16:creationId xmlns:a16="http://schemas.microsoft.com/office/drawing/2014/main" id="{1EAEFF95-82BF-4327-8A06-080F971FC130}"/>
                </a:ext>
              </a:extLst>
            </p:cNvPr>
            <p:cNvCxnSpPr>
              <a:stCxn id="10" idx="2"/>
              <a:endCxn id="13" idx="0"/>
            </p:cNvCxnSpPr>
            <p:nvPr/>
          </p:nvCxnSpPr>
          <p:spPr>
            <a:xfrm>
              <a:off x="9326033" y="1175637"/>
              <a:ext cx="1" cy="485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Isosceles Triangle 16">
              <a:extLst>
                <a:ext uri="{FF2B5EF4-FFF2-40B4-BE49-F238E27FC236}">
                  <a16:creationId xmlns:a16="http://schemas.microsoft.com/office/drawing/2014/main" id="{DC02B645-C73B-46C7-B703-EA85C3B1ED23}"/>
                </a:ext>
              </a:extLst>
            </p:cNvPr>
            <p:cNvSpPr/>
            <p:nvPr/>
          </p:nvSpPr>
          <p:spPr>
            <a:xfrm rot="5400000">
              <a:off x="8518206" y="1811622"/>
              <a:ext cx="218864" cy="144145"/>
            </a:xfrm>
            <a:prstGeom prs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A6E0A2CE-AEB9-491F-966A-FE93F5258A84}"/>
                </a:ext>
              </a:extLst>
            </p:cNvPr>
            <p:cNvCxnSpPr>
              <a:stCxn id="13" idx="3"/>
            </p:cNvCxnSpPr>
            <p:nvPr/>
          </p:nvCxnSpPr>
          <p:spPr>
            <a:xfrm flipV="1">
              <a:off x="10096500" y="1843087"/>
              <a:ext cx="56197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B7121818-0D2D-4E84-A977-30F6E4CB76B0}"/>
                </a:ext>
              </a:extLst>
            </p:cNvPr>
            <p:cNvSpPr/>
            <p:nvPr/>
          </p:nvSpPr>
          <p:spPr>
            <a:xfrm>
              <a:off x="10658475" y="1661054"/>
              <a:ext cx="906524" cy="36405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100" dirty="0"/>
                <a:t>COUNTFLAG</a:t>
              </a:r>
            </a:p>
          </p:txBody>
        </p:sp>
        <p:sp>
          <p:nvSpPr>
            <p:cNvPr id="55" name="TextBox 54">
              <a:extLst>
                <a:ext uri="{FF2B5EF4-FFF2-40B4-BE49-F238E27FC236}">
                  <a16:creationId xmlns:a16="http://schemas.microsoft.com/office/drawing/2014/main" id="{EA23FBF8-FE7D-4363-8A3A-18A59C4E68AF}"/>
                </a:ext>
              </a:extLst>
            </p:cNvPr>
            <p:cNvSpPr txBox="1"/>
            <p:nvPr/>
          </p:nvSpPr>
          <p:spPr>
            <a:xfrm>
              <a:off x="10204119" y="1638301"/>
              <a:ext cx="454356" cy="261610"/>
            </a:xfrm>
            <a:prstGeom prst="rect">
              <a:avLst/>
            </a:prstGeom>
            <a:noFill/>
          </p:spPr>
          <p:txBody>
            <a:bodyPr wrap="square" rtlCol="0">
              <a:spAutoFit/>
            </a:bodyPr>
            <a:lstStyle/>
            <a:p>
              <a:r>
                <a:rPr lang="en-US" sz="1100" dirty="0"/>
                <a:t>==0</a:t>
              </a:r>
            </a:p>
          </p:txBody>
        </p:sp>
        <p:cxnSp>
          <p:nvCxnSpPr>
            <p:cNvPr id="57" name="Connector: Elbow 56">
              <a:extLst>
                <a:ext uri="{FF2B5EF4-FFF2-40B4-BE49-F238E27FC236}">
                  <a16:creationId xmlns:a16="http://schemas.microsoft.com/office/drawing/2014/main" id="{D2D7E52E-5DA6-4635-85CA-1C3F87128708}"/>
                </a:ext>
              </a:extLst>
            </p:cNvPr>
            <p:cNvCxnSpPr>
              <a:stCxn id="54" idx="2"/>
              <a:endCxn id="13" idx="2"/>
            </p:cNvCxnSpPr>
            <p:nvPr/>
          </p:nvCxnSpPr>
          <p:spPr>
            <a:xfrm rot="5400000">
              <a:off x="10218879" y="1132263"/>
              <a:ext cx="14" cy="1785703"/>
            </a:xfrm>
            <a:prstGeom prst="bentConnector3">
              <a:avLst>
                <a:gd name="adj1" fmla="val 1632957143"/>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822198B-59D2-4248-A9E0-7A10CB6D7086}"/>
                </a:ext>
              </a:extLst>
            </p:cNvPr>
            <p:cNvSpPr txBox="1"/>
            <p:nvPr/>
          </p:nvSpPr>
          <p:spPr>
            <a:xfrm>
              <a:off x="10150308" y="2232987"/>
              <a:ext cx="765339" cy="261610"/>
            </a:xfrm>
            <a:prstGeom prst="rect">
              <a:avLst/>
            </a:prstGeom>
            <a:noFill/>
          </p:spPr>
          <p:txBody>
            <a:bodyPr wrap="square" rtlCol="0">
              <a:spAutoFit/>
            </a:bodyPr>
            <a:lstStyle/>
            <a:p>
              <a:r>
                <a:rPr lang="en-US" sz="1100" b="1" dirty="0"/>
                <a:t>Reload</a:t>
              </a:r>
            </a:p>
          </p:txBody>
        </p:sp>
        <p:cxnSp>
          <p:nvCxnSpPr>
            <p:cNvPr id="61" name="Straight Arrow Connector 60">
              <a:extLst>
                <a:ext uri="{FF2B5EF4-FFF2-40B4-BE49-F238E27FC236}">
                  <a16:creationId xmlns:a16="http://schemas.microsoft.com/office/drawing/2014/main" id="{F1063F58-D51B-463D-90D1-81A95F499E14}"/>
                </a:ext>
              </a:extLst>
            </p:cNvPr>
            <p:cNvCxnSpPr/>
            <p:nvPr/>
          </p:nvCxnSpPr>
          <p:spPr>
            <a:xfrm flipV="1">
              <a:off x="7985006" y="1887235"/>
              <a:ext cx="56197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C651CBA-BEE1-4681-90B6-C14B8EE40B90}"/>
                </a:ext>
              </a:extLst>
            </p:cNvPr>
            <p:cNvSpPr txBox="1"/>
            <p:nvPr/>
          </p:nvSpPr>
          <p:spPr>
            <a:xfrm>
              <a:off x="6968676" y="1862322"/>
              <a:ext cx="355242" cy="261610"/>
            </a:xfrm>
            <a:prstGeom prst="rect">
              <a:avLst/>
            </a:prstGeom>
            <a:noFill/>
          </p:spPr>
          <p:txBody>
            <a:bodyPr wrap="square" rtlCol="0">
              <a:spAutoFit/>
            </a:bodyPr>
            <a:lstStyle/>
            <a:p>
              <a:r>
                <a:rPr lang="en-US" sz="1100" dirty="0"/>
                <a:t>EN</a:t>
              </a:r>
            </a:p>
          </p:txBody>
        </p:sp>
        <p:sp>
          <p:nvSpPr>
            <p:cNvPr id="63" name="Flowchart: Delay 62">
              <a:extLst>
                <a:ext uri="{FF2B5EF4-FFF2-40B4-BE49-F238E27FC236}">
                  <a16:creationId xmlns:a16="http://schemas.microsoft.com/office/drawing/2014/main" id="{42E18A91-4810-45E1-87CA-CE4C998751E4}"/>
                </a:ext>
              </a:extLst>
            </p:cNvPr>
            <p:cNvSpPr/>
            <p:nvPr/>
          </p:nvSpPr>
          <p:spPr>
            <a:xfrm>
              <a:off x="7530651" y="1699867"/>
              <a:ext cx="454355" cy="364067"/>
            </a:xfrm>
            <a:prstGeom prst="flowChartDe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Connector 64">
              <a:extLst>
                <a:ext uri="{FF2B5EF4-FFF2-40B4-BE49-F238E27FC236}">
                  <a16:creationId xmlns:a16="http://schemas.microsoft.com/office/drawing/2014/main" id="{A5168FAF-308C-48C0-83FE-37B884276E1E}"/>
                </a:ext>
              </a:extLst>
            </p:cNvPr>
            <p:cNvCxnSpPr>
              <a:cxnSpLocks/>
              <a:stCxn id="62" idx="3"/>
            </p:cNvCxnSpPr>
            <p:nvPr/>
          </p:nvCxnSpPr>
          <p:spPr>
            <a:xfrm>
              <a:off x="7323918" y="1993127"/>
              <a:ext cx="206732" cy="0"/>
            </a:xfrm>
            <a:prstGeom prst="line">
              <a:avLst/>
            </a:prstGeom>
          </p:spPr>
          <p:style>
            <a:lnRef idx="1">
              <a:schemeClr val="accent1"/>
            </a:lnRef>
            <a:fillRef idx="0">
              <a:schemeClr val="accent1"/>
            </a:fillRef>
            <a:effectRef idx="0">
              <a:schemeClr val="accent1"/>
            </a:effectRef>
            <a:fontRef idx="minor">
              <a:schemeClr val="tx1"/>
            </a:fontRef>
          </p:style>
        </p:cxnSp>
        <p:sp>
          <p:nvSpPr>
            <p:cNvPr id="67" name="Diagonal Stripe 66">
              <a:extLst>
                <a:ext uri="{FF2B5EF4-FFF2-40B4-BE49-F238E27FC236}">
                  <a16:creationId xmlns:a16="http://schemas.microsoft.com/office/drawing/2014/main" id="{406F6A01-6A86-44D8-AF72-01CDAB10B709}"/>
                </a:ext>
              </a:extLst>
            </p:cNvPr>
            <p:cNvSpPr/>
            <p:nvPr/>
          </p:nvSpPr>
          <p:spPr>
            <a:xfrm rot="2700000" flipH="1">
              <a:off x="6388659" y="1444798"/>
              <a:ext cx="686182" cy="732521"/>
            </a:xfrm>
            <a:prstGeom prst="diagStrip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8" name="Straight Connector 67">
              <a:extLst>
                <a:ext uri="{FF2B5EF4-FFF2-40B4-BE49-F238E27FC236}">
                  <a16:creationId xmlns:a16="http://schemas.microsoft.com/office/drawing/2014/main" id="{D826E0D5-83D1-475A-B671-EBCFDF855565}"/>
                </a:ext>
              </a:extLst>
            </p:cNvPr>
            <p:cNvCxnSpPr>
              <a:cxnSpLocks/>
              <a:stCxn id="67" idx="2"/>
            </p:cNvCxnSpPr>
            <p:nvPr/>
          </p:nvCxnSpPr>
          <p:spPr>
            <a:xfrm flipV="1">
              <a:off x="6982543" y="1801638"/>
              <a:ext cx="536849" cy="122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49AC28A-CA74-4AAC-BBE1-B7C592877FA0}"/>
                </a:ext>
              </a:extLst>
            </p:cNvPr>
            <p:cNvCxnSpPr>
              <a:cxnSpLocks/>
            </p:cNvCxnSpPr>
            <p:nvPr/>
          </p:nvCxnSpPr>
          <p:spPr>
            <a:xfrm>
              <a:off x="6525018" y="1571177"/>
              <a:ext cx="2067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EEBA11E-8033-4EF3-A57E-6DB7B65A5C34}"/>
                </a:ext>
              </a:extLst>
            </p:cNvPr>
            <p:cNvCxnSpPr>
              <a:cxnSpLocks/>
            </p:cNvCxnSpPr>
            <p:nvPr/>
          </p:nvCxnSpPr>
          <p:spPr>
            <a:xfrm>
              <a:off x="6525018" y="2025107"/>
              <a:ext cx="206732" cy="0"/>
            </a:xfrm>
            <a:prstGeom prst="line">
              <a:avLst/>
            </a:prstGeom>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727953C6-B5E3-4F1B-A036-349C8E409C1B}"/>
                </a:ext>
              </a:extLst>
            </p:cNvPr>
            <p:cNvSpPr txBox="1"/>
            <p:nvPr/>
          </p:nvSpPr>
          <p:spPr>
            <a:xfrm>
              <a:off x="6460556" y="1078809"/>
              <a:ext cx="955908" cy="261610"/>
            </a:xfrm>
            <a:prstGeom prst="rect">
              <a:avLst/>
            </a:prstGeom>
            <a:noFill/>
          </p:spPr>
          <p:txBody>
            <a:bodyPr wrap="square" rtlCol="0">
              <a:spAutoFit/>
            </a:bodyPr>
            <a:lstStyle/>
            <a:p>
              <a:r>
                <a:rPr lang="en-US" sz="1100" dirty="0"/>
                <a:t>CLKSOURCE</a:t>
              </a:r>
            </a:p>
          </p:txBody>
        </p:sp>
        <p:sp>
          <p:nvSpPr>
            <p:cNvPr id="73" name="TextBox 72">
              <a:extLst>
                <a:ext uri="{FF2B5EF4-FFF2-40B4-BE49-F238E27FC236}">
                  <a16:creationId xmlns:a16="http://schemas.microsoft.com/office/drawing/2014/main" id="{72164DDA-34A4-4FFA-8D37-BD01F80AE123}"/>
                </a:ext>
              </a:extLst>
            </p:cNvPr>
            <p:cNvSpPr txBox="1"/>
            <p:nvPr/>
          </p:nvSpPr>
          <p:spPr>
            <a:xfrm>
              <a:off x="5718263" y="1438257"/>
              <a:ext cx="955908" cy="261610"/>
            </a:xfrm>
            <a:prstGeom prst="rect">
              <a:avLst/>
            </a:prstGeom>
            <a:noFill/>
          </p:spPr>
          <p:txBody>
            <a:bodyPr wrap="square" rtlCol="0">
              <a:spAutoFit/>
            </a:bodyPr>
            <a:lstStyle/>
            <a:p>
              <a:r>
                <a:rPr lang="en-US" sz="1100" dirty="0"/>
                <a:t>External </a:t>
              </a:r>
              <a:r>
                <a:rPr lang="en-US" sz="1100" dirty="0" err="1"/>
                <a:t>Clk</a:t>
              </a:r>
              <a:endParaRPr lang="en-US" sz="1100" dirty="0"/>
            </a:p>
          </p:txBody>
        </p:sp>
        <p:sp>
          <p:nvSpPr>
            <p:cNvPr id="74" name="TextBox 73">
              <a:extLst>
                <a:ext uri="{FF2B5EF4-FFF2-40B4-BE49-F238E27FC236}">
                  <a16:creationId xmlns:a16="http://schemas.microsoft.com/office/drawing/2014/main" id="{6E42D5E0-894F-44E5-A08F-A826894B68C8}"/>
                </a:ext>
              </a:extLst>
            </p:cNvPr>
            <p:cNvSpPr txBox="1"/>
            <p:nvPr/>
          </p:nvSpPr>
          <p:spPr>
            <a:xfrm>
              <a:off x="5710044" y="1881900"/>
              <a:ext cx="955908" cy="261610"/>
            </a:xfrm>
            <a:prstGeom prst="rect">
              <a:avLst/>
            </a:prstGeom>
            <a:noFill/>
          </p:spPr>
          <p:txBody>
            <a:bodyPr wrap="square" rtlCol="0">
              <a:spAutoFit/>
            </a:bodyPr>
            <a:lstStyle/>
            <a:p>
              <a:r>
                <a:rPr lang="en-US" sz="1100" dirty="0"/>
                <a:t>System </a:t>
              </a:r>
              <a:r>
                <a:rPr lang="en-US" sz="1100" dirty="0" err="1"/>
                <a:t>Clk</a:t>
              </a:r>
              <a:endParaRPr lang="en-US" sz="1100" dirty="0"/>
            </a:p>
          </p:txBody>
        </p:sp>
      </p:grpSp>
    </p:spTree>
    <p:extLst>
      <p:ext uri="{BB962C8B-B14F-4D97-AF65-F5344CB8AC3E}">
        <p14:creationId xmlns:p14="http://schemas.microsoft.com/office/powerpoint/2010/main" val="2372266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4B7A4-E05B-4E6A-A0C9-31EDB6C89D3B}"/>
              </a:ext>
            </a:extLst>
          </p:cNvPr>
          <p:cNvSpPr>
            <a:spLocks noGrp="1"/>
          </p:cNvSpPr>
          <p:nvPr>
            <p:ph type="title"/>
          </p:nvPr>
        </p:nvSpPr>
        <p:spPr>
          <a:xfrm>
            <a:off x="838200" y="365125"/>
            <a:ext cx="3571875" cy="1325563"/>
          </a:xfrm>
        </p:spPr>
        <p:txBody>
          <a:bodyPr>
            <a:noAutofit/>
          </a:bodyPr>
          <a:lstStyle/>
          <a:p>
            <a:r>
              <a:rPr lang="en-US" sz="3200" dirty="0"/>
              <a:t>Standard General-Purpose Timers</a:t>
            </a:r>
          </a:p>
        </p:txBody>
      </p:sp>
      <p:sp>
        <p:nvSpPr>
          <p:cNvPr id="3" name="Content Placeholder 2">
            <a:extLst>
              <a:ext uri="{FF2B5EF4-FFF2-40B4-BE49-F238E27FC236}">
                <a16:creationId xmlns:a16="http://schemas.microsoft.com/office/drawing/2014/main" id="{0EBB18E4-4344-43E4-AAA2-F091E52FD043}"/>
              </a:ext>
            </a:extLst>
          </p:cNvPr>
          <p:cNvSpPr>
            <a:spLocks noGrp="1"/>
          </p:cNvSpPr>
          <p:nvPr>
            <p:ph idx="1"/>
          </p:nvPr>
        </p:nvSpPr>
        <p:spPr>
          <a:xfrm>
            <a:off x="838200" y="1825625"/>
            <a:ext cx="4148132" cy="4351338"/>
          </a:xfrm>
        </p:spPr>
        <p:txBody>
          <a:bodyPr/>
          <a:lstStyle/>
          <a:p>
            <a:r>
              <a:rPr lang="en-US" dirty="0"/>
              <a:t>TIM2/5 are 32-bit</a:t>
            </a:r>
          </a:p>
          <a:p>
            <a:r>
              <a:rPr lang="en-US" dirty="0"/>
              <a:t>TIM3/4 are 16-bit</a:t>
            </a:r>
          </a:p>
          <a:p>
            <a:r>
              <a:rPr lang="en-US" dirty="0"/>
              <a:t>Modes:</a:t>
            </a:r>
          </a:p>
          <a:p>
            <a:pPr lvl="1"/>
            <a:r>
              <a:rPr lang="en-US" sz="1800" b="0" i="0" u="none" strike="noStrike" baseline="0" dirty="0">
                <a:solidFill>
                  <a:srgbClr val="000000"/>
                </a:solidFill>
                <a:latin typeface="Arial" panose="020B0604020202020204" pitchFamily="34" charset="0"/>
              </a:rPr>
              <a:t>Input capture</a:t>
            </a:r>
          </a:p>
          <a:p>
            <a:pPr lvl="1"/>
            <a:r>
              <a:rPr lang="en-US" sz="1800" b="0" i="0" u="none" strike="noStrike" baseline="0" dirty="0">
                <a:solidFill>
                  <a:srgbClr val="000000"/>
                </a:solidFill>
                <a:latin typeface="Arial" panose="020B0604020202020204" pitchFamily="34" charset="0"/>
              </a:rPr>
              <a:t>Output compare</a:t>
            </a:r>
          </a:p>
          <a:p>
            <a:pPr lvl="1"/>
            <a:r>
              <a:rPr lang="en-US" sz="1800" b="0" i="0" u="none" strike="noStrike" baseline="0" dirty="0">
                <a:solidFill>
                  <a:srgbClr val="000000"/>
                </a:solidFill>
                <a:latin typeface="Arial" panose="020B0604020202020204" pitchFamily="34" charset="0"/>
              </a:rPr>
              <a:t>PWM generation (Edge- and Center-aligned modes)</a:t>
            </a:r>
          </a:p>
          <a:p>
            <a:pPr lvl="1"/>
            <a:r>
              <a:rPr lang="en-US" sz="1800" b="0" i="0" u="none" strike="noStrike" baseline="0" dirty="0">
                <a:solidFill>
                  <a:srgbClr val="000000"/>
                </a:solidFill>
                <a:latin typeface="Arial" panose="020B0604020202020204" pitchFamily="34" charset="0"/>
              </a:rPr>
              <a:t>One-pulse mode output </a:t>
            </a:r>
            <a:endParaRPr lang="en-US" dirty="0"/>
          </a:p>
        </p:txBody>
      </p:sp>
      <p:sp>
        <p:nvSpPr>
          <p:cNvPr id="4" name="Footer Placeholder 3">
            <a:extLst>
              <a:ext uri="{FF2B5EF4-FFF2-40B4-BE49-F238E27FC236}">
                <a16:creationId xmlns:a16="http://schemas.microsoft.com/office/drawing/2014/main" id="{CA9969F7-8425-439B-BFA6-52683A12CFC1}"/>
              </a:ext>
            </a:extLst>
          </p:cNvPr>
          <p:cNvSpPr>
            <a:spLocks noGrp="1"/>
          </p:cNvSpPr>
          <p:nvPr>
            <p:ph type="ftr" sz="quarter" idx="11"/>
          </p:nvPr>
        </p:nvSpPr>
        <p:spPr/>
        <p:txBody>
          <a:bodyPr/>
          <a:lstStyle/>
          <a:p>
            <a:r>
              <a:rPr lang="en-US" dirty="0"/>
              <a:t>ECE433/533 Boise State University - 2025 - Fady</a:t>
            </a:r>
          </a:p>
        </p:txBody>
      </p:sp>
      <p:pic>
        <p:nvPicPr>
          <p:cNvPr id="6" name="Picture 5">
            <a:extLst>
              <a:ext uri="{FF2B5EF4-FFF2-40B4-BE49-F238E27FC236}">
                <a16:creationId xmlns:a16="http://schemas.microsoft.com/office/drawing/2014/main" id="{5E20A9F5-3E77-49D3-94A0-C0B0DCFCFF05}"/>
              </a:ext>
            </a:extLst>
          </p:cNvPr>
          <p:cNvPicPr>
            <a:picLocks noChangeAspect="1"/>
          </p:cNvPicPr>
          <p:nvPr/>
        </p:nvPicPr>
        <p:blipFill>
          <a:blip r:embed="rId2"/>
          <a:stretch>
            <a:fillRect/>
          </a:stretch>
        </p:blipFill>
        <p:spPr>
          <a:xfrm>
            <a:off x="4986332" y="0"/>
            <a:ext cx="7048517" cy="6885858"/>
          </a:xfrm>
          <a:prstGeom prst="rect">
            <a:avLst/>
          </a:prstGeom>
        </p:spPr>
      </p:pic>
    </p:spTree>
    <p:extLst>
      <p:ext uri="{BB962C8B-B14F-4D97-AF65-F5344CB8AC3E}">
        <p14:creationId xmlns:p14="http://schemas.microsoft.com/office/powerpoint/2010/main" val="326095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FF34A-C2D8-60D9-EB6E-7E720B836AD7}"/>
              </a:ext>
            </a:extLst>
          </p:cNvPr>
          <p:cNvSpPr>
            <a:spLocks noGrp="1"/>
          </p:cNvSpPr>
          <p:nvPr>
            <p:ph type="title"/>
          </p:nvPr>
        </p:nvSpPr>
        <p:spPr/>
        <p:txBody>
          <a:bodyPr/>
          <a:lstStyle/>
          <a:p>
            <a:r>
              <a:rPr lang="en-US" dirty="0"/>
              <a:t>Timer Registers</a:t>
            </a:r>
          </a:p>
        </p:txBody>
      </p:sp>
      <p:sp>
        <p:nvSpPr>
          <p:cNvPr id="3" name="Content Placeholder 2">
            <a:extLst>
              <a:ext uri="{FF2B5EF4-FFF2-40B4-BE49-F238E27FC236}">
                <a16:creationId xmlns:a16="http://schemas.microsoft.com/office/drawing/2014/main" id="{59E2553B-DAAF-2297-EF35-09BDC852C325}"/>
              </a:ext>
            </a:extLst>
          </p:cNvPr>
          <p:cNvSpPr>
            <a:spLocks noGrp="1"/>
          </p:cNvSpPr>
          <p:nvPr>
            <p:ph idx="1"/>
          </p:nvPr>
        </p:nvSpPr>
        <p:spPr>
          <a:xfrm>
            <a:off x="272955" y="1825625"/>
            <a:ext cx="11919045" cy="4351338"/>
          </a:xfrm>
        </p:spPr>
        <p:txBody>
          <a:bodyPr>
            <a:normAutofit/>
          </a:bodyPr>
          <a:lstStyle/>
          <a:p>
            <a:r>
              <a:rPr lang="en-US" b="1" dirty="0" err="1">
                <a:latin typeface="Consolas" panose="020B0609020204030204" pitchFamily="49" charset="0"/>
              </a:rPr>
              <a:t>TIMx</a:t>
            </a:r>
            <a:r>
              <a:rPr lang="en-US" b="1" dirty="0">
                <a:latin typeface="Consolas" panose="020B0609020204030204" pitchFamily="49" charset="0"/>
              </a:rPr>
              <a:t>-&gt;PSC  </a:t>
            </a:r>
            <a:r>
              <a:rPr lang="en-US" dirty="0">
                <a:latin typeface="Consolas" panose="020B0609020204030204" pitchFamily="49" charset="0"/>
              </a:rPr>
              <a:t>: Clock </a:t>
            </a:r>
            <a:r>
              <a:rPr lang="en-US" dirty="0" err="1">
                <a:latin typeface="Consolas" panose="020B0609020204030204" pitchFamily="49" charset="0"/>
              </a:rPr>
              <a:t>prescaler</a:t>
            </a:r>
            <a:r>
              <a:rPr lang="en-US" dirty="0">
                <a:latin typeface="Consolas" panose="020B0609020204030204" pitchFamily="49" charset="0"/>
              </a:rPr>
              <a:t>, slows down source clock </a:t>
            </a:r>
          </a:p>
          <a:p>
            <a:r>
              <a:rPr lang="en-US" b="1" dirty="0" err="1">
                <a:latin typeface="Consolas" panose="020B0609020204030204" pitchFamily="49" charset="0"/>
              </a:rPr>
              <a:t>TIMx</a:t>
            </a:r>
            <a:r>
              <a:rPr lang="en-US" b="1" dirty="0">
                <a:latin typeface="Consolas" panose="020B0609020204030204" pitchFamily="49" charset="0"/>
              </a:rPr>
              <a:t>-&gt;ARR  </a:t>
            </a:r>
            <a:r>
              <a:rPr lang="en-US" dirty="0">
                <a:latin typeface="Consolas" panose="020B0609020204030204" pitchFamily="49" charset="0"/>
              </a:rPr>
              <a:t>: Auto Reload Reg, upper bound for counter</a:t>
            </a:r>
          </a:p>
          <a:p>
            <a:r>
              <a:rPr lang="en-US" b="1" dirty="0" err="1">
                <a:latin typeface="Consolas" panose="020B0609020204030204" pitchFamily="49" charset="0"/>
              </a:rPr>
              <a:t>TIMx</a:t>
            </a:r>
            <a:r>
              <a:rPr lang="en-US" b="1" dirty="0">
                <a:latin typeface="Consolas" panose="020B0609020204030204" pitchFamily="49" charset="0"/>
              </a:rPr>
              <a:t>-&gt;</a:t>
            </a:r>
            <a:r>
              <a:rPr lang="en-US" b="1" dirty="0" err="1">
                <a:latin typeface="Consolas" panose="020B0609020204030204" pitchFamily="49" charset="0"/>
              </a:rPr>
              <a:t>CCMRn</a:t>
            </a:r>
            <a:r>
              <a:rPr lang="en-US" dirty="0">
                <a:latin typeface="Consolas" panose="020B0609020204030204" pitchFamily="49" charset="0"/>
              </a:rPr>
              <a:t>: Capture/Compare Mode Reg, operation mode</a:t>
            </a:r>
          </a:p>
          <a:p>
            <a:r>
              <a:rPr lang="en-US" b="1" dirty="0" err="1">
                <a:latin typeface="Consolas" panose="020B0609020204030204" pitchFamily="49" charset="0"/>
              </a:rPr>
              <a:t>TIMx</a:t>
            </a:r>
            <a:r>
              <a:rPr lang="en-US" b="1" dirty="0">
                <a:latin typeface="Consolas" panose="020B0609020204030204" pitchFamily="49" charset="0"/>
              </a:rPr>
              <a:t>-&gt;CCER </a:t>
            </a:r>
            <a:r>
              <a:rPr lang="en-US" dirty="0">
                <a:latin typeface="Consolas" panose="020B0609020204030204" pitchFamily="49" charset="0"/>
              </a:rPr>
              <a:t>: Capture/Compare Enable Reg</a:t>
            </a:r>
          </a:p>
          <a:p>
            <a:r>
              <a:rPr lang="en-US" b="1" dirty="0" err="1">
                <a:latin typeface="Consolas" panose="020B0609020204030204" pitchFamily="49" charset="0"/>
              </a:rPr>
              <a:t>TIMx</a:t>
            </a:r>
            <a:r>
              <a:rPr lang="en-US" b="1" dirty="0">
                <a:latin typeface="Consolas" panose="020B0609020204030204" pitchFamily="49" charset="0"/>
              </a:rPr>
              <a:t>-&gt;</a:t>
            </a:r>
            <a:r>
              <a:rPr lang="en-US" b="1" dirty="0" err="1">
                <a:latin typeface="Consolas" panose="020B0609020204030204" pitchFamily="49" charset="0"/>
              </a:rPr>
              <a:t>CCRn</a:t>
            </a:r>
            <a:r>
              <a:rPr lang="en-US" b="1" dirty="0">
                <a:latin typeface="Consolas" panose="020B0609020204030204" pitchFamily="49" charset="0"/>
              </a:rPr>
              <a:t> </a:t>
            </a:r>
            <a:r>
              <a:rPr lang="en-US" dirty="0">
                <a:latin typeface="Consolas" panose="020B0609020204030204" pitchFamily="49" charset="0"/>
              </a:rPr>
              <a:t>: Capture/Compare Reg, *action* when CNT==CCR</a:t>
            </a:r>
          </a:p>
          <a:p>
            <a:r>
              <a:rPr lang="en-US" b="1" dirty="0">
                <a:latin typeface="Consolas" panose="020B0609020204030204" pitchFamily="49" charset="0"/>
              </a:rPr>
              <a:t>TIM2-&gt;CNT  </a:t>
            </a:r>
            <a:r>
              <a:rPr lang="en-US" dirty="0">
                <a:latin typeface="Consolas" panose="020B0609020204030204" pitchFamily="49" charset="0"/>
              </a:rPr>
              <a:t>: Counter, real-time value of counter</a:t>
            </a:r>
          </a:p>
          <a:p>
            <a:r>
              <a:rPr lang="en-US" b="1" dirty="0">
                <a:latin typeface="Consolas" panose="020B0609020204030204" pitchFamily="49" charset="0"/>
              </a:rPr>
              <a:t>TIM2-&gt;</a:t>
            </a:r>
            <a:r>
              <a:rPr lang="en-US" b="1" dirty="0" err="1">
                <a:latin typeface="Consolas" panose="020B0609020204030204" pitchFamily="49" charset="0"/>
              </a:rPr>
              <a:t>CRn</a:t>
            </a:r>
            <a:r>
              <a:rPr lang="en-US" b="1" dirty="0">
                <a:latin typeface="Consolas" panose="020B0609020204030204" pitchFamily="49" charset="0"/>
              </a:rPr>
              <a:t>  </a:t>
            </a:r>
            <a:r>
              <a:rPr lang="en-US" dirty="0">
                <a:latin typeface="Consolas" panose="020B0609020204030204" pitchFamily="49" charset="0"/>
              </a:rPr>
              <a:t>: Control Reg, control for Timer IP</a:t>
            </a:r>
          </a:p>
        </p:txBody>
      </p:sp>
      <p:sp>
        <p:nvSpPr>
          <p:cNvPr id="4" name="Footer Placeholder 3">
            <a:extLst>
              <a:ext uri="{FF2B5EF4-FFF2-40B4-BE49-F238E27FC236}">
                <a16:creationId xmlns:a16="http://schemas.microsoft.com/office/drawing/2014/main" id="{F77584AB-3F35-0974-4BC3-907E38DBB6FF}"/>
              </a:ext>
            </a:extLst>
          </p:cNvPr>
          <p:cNvSpPr>
            <a:spLocks noGrp="1"/>
          </p:cNvSpPr>
          <p:nvPr>
            <p:ph type="ftr" sz="quarter" idx="11"/>
          </p:nvPr>
        </p:nvSpPr>
        <p:spPr/>
        <p:txBody>
          <a:bodyPr/>
          <a:lstStyle/>
          <a:p>
            <a:r>
              <a:rPr lang="en-US" dirty="0"/>
              <a:t>ECE433/533 Boise State University - 2025 - Fady</a:t>
            </a:r>
          </a:p>
        </p:txBody>
      </p:sp>
    </p:spTree>
    <p:extLst>
      <p:ext uri="{BB962C8B-B14F-4D97-AF65-F5344CB8AC3E}">
        <p14:creationId xmlns:p14="http://schemas.microsoft.com/office/powerpoint/2010/main" val="3082434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F9357-708F-423A-AE27-A8AD5FB8BB14}"/>
              </a:ext>
            </a:extLst>
          </p:cNvPr>
          <p:cNvSpPr>
            <a:spLocks noGrp="1"/>
          </p:cNvSpPr>
          <p:nvPr>
            <p:ph type="title"/>
          </p:nvPr>
        </p:nvSpPr>
        <p:spPr/>
        <p:txBody>
          <a:bodyPr/>
          <a:lstStyle/>
          <a:p>
            <a:r>
              <a:rPr lang="en-US" dirty="0"/>
              <a:t>1- As a timer</a:t>
            </a:r>
          </a:p>
        </p:txBody>
      </p:sp>
      <p:sp>
        <p:nvSpPr>
          <p:cNvPr id="3" name="Content Placeholder 2">
            <a:extLst>
              <a:ext uri="{FF2B5EF4-FFF2-40B4-BE49-F238E27FC236}">
                <a16:creationId xmlns:a16="http://schemas.microsoft.com/office/drawing/2014/main" id="{E656BA0D-77ED-478C-8CC4-3F5175596BF0}"/>
              </a:ext>
            </a:extLst>
          </p:cNvPr>
          <p:cNvSpPr>
            <a:spLocks noGrp="1"/>
          </p:cNvSpPr>
          <p:nvPr>
            <p:ph idx="1"/>
          </p:nvPr>
        </p:nvSpPr>
        <p:spPr>
          <a:xfrm>
            <a:off x="371475" y="4186237"/>
            <a:ext cx="11658599" cy="1990725"/>
          </a:xfrm>
        </p:spPr>
        <p:txBody>
          <a:bodyPr>
            <a:normAutofit/>
          </a:bodyPr>
          <a:lstStyle/>
          <a:p>
            <a:pPr marL="0" indent="0" algn="l">
              <a:spcBef>
                <a:spcPts val="0"/>
              </a:spcBef>
              <a:buNone/>
            </a:pPr>
            <a:r>
              <a:rPr lang="en-US" sz="1600" b="1" dirty="0">
                <a:solidFill>
                  <a:srgbClr val="7F0055"/>
                </a:solidFill>
                <a:latin typeface="Consolas" panose="020B0609020204030204" pitchFamily="49" charset="0"/>
              </a:rPr>
              <a:t>#define</a:t>
            </a:r>
            <a:r>
              <a:rPr lang="en-US" sz="1600" b="1" dirty="0">
                <a:solidFill>
                  <a:srgbClr val="000000"/>
                </a:solidFill>
                <a:latin typeface="Consolas" panose="020B0609020204030204" pitchFamily="49" charset="0"/>
              </a:rPr>
              <a:t> COUNT_DW 0x10</a:t>
            </a:r>
          </a:p>
          <a:p>
            <a:pPr marL="0" indent="0" algn="l">
              <a:spcBef>
                <a:spcPts val="0"/>
              </a:spcBef>
              <a:buNone/>
            </a:pPr>
            <a:endParaRPr lang="en-US" sz="1600" dirty="0">
              <a:latin typeface="Consolas" panose="020B0609020204030204" pitchFamily="49" charset="0"/>
            </a:endParaRPr>
          </a:p>
          <a:p>
            <a:pPr marL="0" indent="0" algn="l">
              <a:spcBef>
                <a:spcPts val="0"/>
              </a:spcBef>
              <a:buNone/>
            </a:pPr>
            <a:r>
              <a:rPr lang="en-US" sz="1600" dirty="0">
                <a:solidFill>
                  <a:srgbClr val="000000"/>
                </a:solidFill>
                <a:latin typeface="Consolas" panose="020B0609020204030204" pitchFamily="49" charset="0"/>
              </a:rPr>
              <a:t>RCC-&gt;</a:t>
            </a:r>
            <a:r>
              <a:rPr lang="en-US" sz="1600" dirty="0">
                <a:solidFill>
                  <a:srgbClr val="0000C0"/>
                </a:solidFill>
                <a:latin typeface="Consolas" panose="020B0609020204030204" pitchFamily="49" charset="0"/>
              </a:rPr>
              <a:t>APB1ENR1</a:t>
            </a:r>
            <a:r>
              <a:rPr lang="en-US" sz="1600" dirty="0">
                <a:solidFill>
                  <a:srgbClr val="000000"/>
                </a:solidFill>
                <a:latin typeface="Consolas" panose="020B0609020204030204" pitchFamily="49" charset="0"/>
              </a:rPr>
              <a:t> |= 1;          </a:t>
            </a:r>
            <a:r>
              <a:rPr lang="en-US" sz="1600" dirty="0">
                <a:solidFill>
                  <a:srgbClr val="3F7F5F"/>
                </a:solidFill>
                <a:latin typeface="Consolas" panose="020B0609020204030204" pitchFamily="49" charset="0"/>
              </a:rPr>
              <a:t>/* enable TIM2 clock */</a:t>
            </a:r>
          </a:p>
          <a:p>
            <a:pPr marL="0" indent="0" algn="l">
              <a:spcBef>
                <a:spcPts val="0"/>
              </a:spcBef>
              <a:buNone/>
            </a:pPr>
            <a:r>
              <a:rPr lang="en-US" sz="1600" dirty="0">
                <a:solidFill>
                  <a:srgbClr val="000000"/>
                </a:solidFill>
                <a:latin typeface="Consolas" panose="020B0609020204030204" pitchFamily="49" charset="0"/>
              </a:rPr>
              <a:t>TIM2-&gt;</a:t>
            </a:r>
            <a:r>
              <a:rPr lang="en-US" sz="1600" dirty="0">
                <a:solidFill>
                  <a:srgbClr val="0000C0"/>
                </a:solidFill>
                <a:latin typeface="Consolas" panose="020B0609020204030204" pitchFamily="49" charset="0"/>
              </a:rPr>
              <a:t>PSC</a:t>
            </a:r>
            <a:r>
              <a:rPr lang="en-US" sz="1600" dirty="0">
                <a:solidFill>
                  <a:srgbClr val="000000"/>
                </a:solidFill>
                <a:latin typeface="Consolas" panose="020B0609020204030204" pitchFamily="49" charset="0"/>
              </a:rPr>
              <a:t> = 160000 - 1;      </a:t>
            </a:r>
            <a:r>
              <a:rPr lang="en-US" sz="1600" dirty="0">
                <a:solidFill>
                  <a:srgbClr val="3F7F5F"/>
                </a:solidFill>
                <a:latin typeface="Consolas" panose="020B0609020204030204" pitchFamily="49" charset="0"/>
              </a:rPr>
              <a:t>/* 16Mhz divided by 160000, 10ms per tick */</a:t>
            </a:r>
          </a:p>
          <a:p>
            <a:pPr marL="0" indent="0" algn="l">
              <a:spcBef>
                <a:spcPts val="0"/>
              </a:spcBef>
              <a:buNone/>
            </a:pPr>
            <a:r>
              <a:rPr lang="en-US" sz="1600" dirty="0">
                <a:solidFill>
                  <a:srgbClr val="000000"/>
                </a:solidFill>
                <a:latin typeface="Consolas" panose="020B0609020204030204" pitchFamily="49" charset="0"/>
              </a:rPr>
              <a:t>TIM2-&gt;</a:t>
            </a:r>
            <a:r>
              <a:rPr lang="en-US" sz="1600" dirty="0">
                <a:solidFill>
                  <a:srgbClr val="0000C0"/>
                </a:solidFill>
                <a:latin typeface="Consolas" panose="020B0609020204030204" pitchFamily="49" charset="0"/>
              </a:rPr>
              <a:t>ARR</a:t>
            </a:r>
            <a:r>
              <a:rPr lang="en-US" sz="1600" dirty="0">
                <a:solidFill>
                  <a:srgbClr val="000000"/>
                </a:solidFill>
                <a:latin typeface="Consolas" panose="020B0609020204030204" pitchFamily="49" charset="0"/>
              </a:rPr>
              <a:t> = 1000 - 1;        </a:t>
            </a:r>
            <a:r>
              <a:rPr lang="en-US" sz="1600" dirty="0">
                <a:solidFill>
                  <a:srgbClr val="3F7F5F"/>
                </a:solidFill>
                <a:latin typeface="Consolas" panose="020B0609020204030204" pitchFamily="49" charset="0"/>
              </a:rPr>
              <a:t>/* divided by </a:t>
            </a:r>
            <a:r>
              <a:rPr lang="en-US" sz="1600" u="sng" dirty="0" err="1">
                <a:solidFill>
                  <a:srgbClr val="3F7F5F"/>
                </a:solidFill>
                <a:latin typeface="Consolas" panose="020B0609020204030204" pitchFamily="49" charset="0"/>
              </a:rPr>
              <a:t>val</a:t>
            </a:r>
            <a:r>
              <a:rPr lang="en-US" sz="1600" u="sng" dirty="0">
                <a:solidFill>
                  <a:srgbClr val="3F7F5F"/>
                </a:solidFill>
                <a:latin typeface="Consolas" panose="020B0609020204030204" pitchFamily="49" charset="0"/>
              </a:rPr>
              <a:t> */</a:t>
            </a:r>
          </a:p>
          <a:p>
            <a:pPr marL="0" indent="0" algn="l">
              <a:spcBef>
                <a:spcPts val="0"/>
              </a:spcBef>
              <a:buNone/>
            </a:pPr>
            <a:r>
              <a:rPr lang="en-US" sz="1600" dirty="0">
                <a:solidFill>
                  <a:srgbClr val="000000"/>
                </a:solidFill>
                <a:latin typeface="Consolas" panose="020B0609020204030204" pitchFamily="49" charset="0"/>
              </a:rPr>
              <a:t>TIM2-&gt;</a:t>
            </a:r>
            <a:r>
              <a:rPr lang="en-US" sz="1600" dirty="0">
                <a:solidFill>
                  <a:srgbClr val="0000C0"/>
                </a:solidFill>
                <a:latin typeface="Consolas" panose="020B0609020204030204" pitchFamily="49" charset="0"/>
              </a:rPr>
              <a:t>CNT</a:t>
            </a:r>
            <a:r>
              <a:rPr lang="en-US" sz="1600" dirty="0">
                <a:solidFill>
                  <a:srgbClr val="000000"/>
                </a:solidFill>
                <a:latin typeface="Consolas" panose="020B0609020204030204" pitchFamily="49" charset="0"/>
              </a:rPr>
              <a:t> = 0;               </a:t>
            </a:r>
            <a:r>
              <a:rPr lang="en-US" sz="1600" dirty="0">
                <a:solidFill>
                  <a:srgbClr val="3F7F5F"/>
                </a:solidFill>
                <a:latin typeface="Consolas" panose="020B0609020204030204" pitchFamily="49" charset="0"/>
              </a:rPr>
              <a:t>/* clear timer counter */</a:t>
            </a:r>
          </a:p>
          <a:p>
            <a:pPr marL="0" indent="0" algn="l">
              <a:spcBef>
                <a:spcPts val="0"/>
              </a:spcBef>
              <a:buNone/>
            </a:pPr>
            <a:r>
              <a:rPr lang="en-US" sz="1600" dirty="0">
                <a:solidFill>
                  <a:srgbClr val="000000"/>
                </a:solidFill>
                <a:latin typeface="Consolas" panose="020B0609020204030204" pitchFamily="49" charset="0"/>
              </a:rPr>
              <a:t>TIM2-&gt;</a:t>
            </a:r>
            <a:r>
              <a:rPr lang="en-US" sz="1600" dirty="0">
                <a:solidFill>
                  <a:srgbClr val="0000C0"/>
                </a:solidFill>
                <a:latin typeface="Consolas" panose="020B0609020204030204" pitchFamily="49" charset="0"/>
              </a:rPr>
              <a:t>CR1</a:t>
            </a:r>
            <a:r>
              <a:rPr lang="en-US" sz="1600" dirty="0">
                <a:solidFill>
                  <a:srgbClr val="000000"/>
                </a:solidFill>
                <a:latin typeface="Consolas" panose="020B0609020204030204" pitchFamily="49" charset="0"/>
              </a:rPr>
              <a:t> = 1|COUNT_DW;      </a:t>
            </a:r>
            <a:r>
              <a:rPr lang="en-US" sz="1600" dirty="0">
                <a:solidFill>
                  <a:srgbClr val="3F7F5F"/>
                </a:solidFill>
                <a:latin typeface="Consolas" panose="020B0609020204030204" pitchFamily="49" charset="0"/>
              </a:rPr>
              <a:t>/* enable TIM2, start the counter  1, 2, 3 ... ARR-1 for COUNT UP */</a:t>
            </a:r>
            <a:endParaRPr lang="en-US" sz="2400" dirty="0"/>
          </a:p>
        </p:txBody>
      </p:sp>
      <p:sp>
        <p:nvSpPr>
          <p:cNvPr id="4" name="Footer Placeholder 3">
            <a:extLst>
              <a:ext uri="{FF2B5EF4-FFF2-40B4-BE49-F238E27FC236}">
                <a16:creationId xmlns:a16="http://schemas.microsoft.com/office/drawing/2014/main" id="{A984AFE1-98A4-4FC2-9E63-BCF10B3D9A1A}"/>
              </a:ext>
            </a:extLst>
          </p:cNvPr>
          <p:cNvSpPr>
            <a:spLocks noGrp="1"/>
          </p:cNvSpPr>
          <p:nvPr>
            <p:ph type="ftr" sz="quarter" idx="11"/>
          </p:nvPr>
        </p:nvSpPr>
        <p:spPr/>
        <p:txBody>
          <a:bodyPr/>
          <a:lstStyle/>
          <a:p>
            <a:r>
              <a:rPr lang="en-US" dirty="0"/>
              <a:t>ECE433/533 Boise State University - 2025 - Fady</a:t>
            </a:r>
          </a:p>
        </p:txBody>
      </p:sp>
      <p:grpSp>
        <p:nvGrpSpPr>
          <p:cNvPr id="5" name="Group 4">
            <a:extLst>
              <a:ext uri="{FF2B5EF4-FFF2-40B4-BE49-F238E27FC236}">
                <a16:creationId xmlns:a16="http://schemas.microsoft.com/office/drawing/2014/main" id="{EB774E54-B4A3-4FD2-A15D-722D5C3D2FD7}"/>
              </a:ext>
            </a:extLst>
          </p:cNvPr>
          <p:cNvGrpSpPr/>
          <p:nvPr/>
        </p:nvGrpSpPr>
        <p:grpSpPr>
          <a:xfrm>
            <a:off x="3345875" y="28575"/>
            <a:ext cx="8327011" cy="4802187"/>
            <a:chOff x="4345509" y="607698"/>
            <a:chExt cx="3884091" cy="2173443"/>
          </a:xfrm>
        </p:grpSpPr>
        <p:cxnSp>
          <p:nvCxnSpPr>
            <p:cNvPr id="6" name="Straight Connector 5">
              <a:extLst>
                <a:ext uri="{FF2B5EF4-FFF2-40B4-BE49-F238E27FC236}">
                  <a16:creationId xmlns:a16="http://schemas.microsoft.com/office/drawing/2014/main" id="{137E0392-6F54-47AB-B3B4-0A0D479C8053}"/>
                </a:ext>
              </a:extLst>
            </p:cNvPr>
            <p:cNvCxnSpPr>
              <a:cxnSpLocks/>
            </p:cNvCxnSpPr>
            <p:nvPr/>
          </p:nvCxnSpPr>
          <p:spPr>
            <a:xfrm flipH="1" flipV="1">
              <a:off x="4972050" y="1436372"/>
              <a:ext cx="98679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A448378-B3B9-4CC4-8BC7-8CBE87312472}"/>
                </a:ext>
              </a:extLst>
            </p:cNvPr>
            <p:cNvCxnSpPr>
              <a:cxnSpLocks/>
            </p:cNvCxnSpPr>
            <p:nvPr/>
          </p:nvCxnSpPr>
          <p:spPr>
            <a:xfrm flipV="1">
              <a:off x="4977050" y="1437563"/>
              <a:ext cx="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B1989A9-FA1B-4F59-AA71-E4D554E53C0D}"/>
                </a:ext>
              </a:extLst>
            </p:cNvPr>
            <p:cNvCxnSpPr/>
            <p:nvPr/>
          </p:nvCxnSpPr>
          <p:spPr>
            <a:xfrm>
              <a:off x="4819650" y="2392680"/>
              <a:ext cx="340995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5D32486D-2AB8-40E6-9EFC-8212477B101F}"/>
                </a:ext>
              </a:extLst>
            </p:cNvPr>
            <p:cNvCxnSpPr>
              <a:cxnSpLocks/>
            </p:cNvCxnSpPr>
            <p:nvPr/>
          </p:nvCxnSpPr>
          <p:spPr>
            <a:xfrm flipV="1">
              <a:off x="4972050" y="1027906"/>
              <a:ext cx="0" cy="151717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B54C688C-7EE6-4929-A433-012FD378B213}"/>
                </a:ext>
              </a:extLst>
            </p:cNvPr>
            <p:cNvCxnSpPr>
              <a:cxnSpLocks/>
            </p:cNvCxnSpPr>
            <p:nvPr/>
          </p:nvCxnSpPr>
          <p:spPr>
            <a:xfrm flipH="1" flipV="1">
              <a:off x="5954752" y="1435182"/>
              <a:ext cx="98679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919689F-3E10-4748-B221-234CED9A236F}"/>
                </a:ext>
              </a:extLst>
            </p:cNvPr>
            <p:cNvCxnSpPr>
              <a:cxnSpLocks/>
            </p:cNvCxnSpPr>
            <p:nvPr/>
          </p:nvCxnSpPr>
          <p:spPr>
            <a:xfrm flipV="1">
              <a:off x="5959752" y="1436373"/>
              <a:ext cx="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50CBD7-684C-45E1-AD9B-912464D7ACF0}"/>
                </a:ext>
              </a:extLst>
            </p:cNvPr>
            <p:cNvCxnSpPr>
              <a:cxnSpLocks/>
            </p:cNvCxnSpPr>
            <p:nvPr/>
          </p:nvCxnSpPr>
          <p:spPr>
            <a:xfrm flipH="1" flipV="1">
              <a:off x="6931541" y="1432801"/>
              <a:ext cx="98679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3B89C6A-F9BF-45DF-B73D-8D305BF34DA2}"/>
                </a:ext>
              </a:extLst>
            </p:cNvPr>
            <p:cNvCxnSpPr>
              <a:cxnSpLocks/>
            </p:cNvCxnSpPr>
            <p:nvPr/>
          </p:nvCxnSpPr>
          <p:spPr>
            <a:xfrm flipV="1">
              <a:off x="6936541" y="1433992"/>
              <a:ext cx="0" cy="95630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5B43847-CA6C-4989-9E59-8F049B99CB59}"/>
                </a:ext>
              </a:extLst>
            </p:cNvPr>
            <p:cNvSpPr txBox="1"/>
            <p:nvPr/>
          </p:nvSpPr>
          <p:spPr>
            <a:xfrm rot="16200000">
              <a:off x="4663078" y="1859101"/>
              <a:ext cx="257701" cy="172273"/>
            </a:xfrm>
            <a:prstGeom prst="rect">
              <a:avLst/>
            </a:prstGeom>
            <a:noFill/>
            <a:ln w="19050">
              <a:noFill/>
            </a:ln>
          </p:spPr>
          <p:txBody>
            <a:bodyPr wrap="none" rtlCol="0">
              <a:spAutoFit/>
            </a:bodyPr>
            <a:lstStyle/>
            <a:p>
              <a:r>
                <a:rPr lang="en-US" dirty="0"/>
                <a:t>CNT</a:t>
              </a:r>
            </a:p>
          </p:txBody>
        </p:sp>
        <p:cxnSp>
          <p:nvCxnSpPr>
            <p:cNvPr id="15" name="Straight Arrow Connector 14">
              <a:extLst>
                <a:ext uri="{FF2B5EF4-FFF2-40B4-BE49-F238E27FC236}">
                  <a16:creationId xmlns:a16="http://schemas.microsoft.com/office/drawing/2014/main" id="{8A1EBE23-77E6-4E47-9AA8-450370F6BB37}"/>
                </a:ext>
              </a:extLst>
            </p:cNvPr>
            <p:cNvCxnSpPr>
              <a:cxnSpLocks/>
            </p:cNvCxnSpPr>
            <p:nvPr/>
          </p:nvCxnSpPr>
          <p:spPr>
            <a:xfrm>
              <a:off x="4626769" y="1452563"/>
              <a:ext cx="29051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3E05988-CE4E-4286-8EA2-5A5510F98C84}"/>
                </a:ext>
              </a:extLst>
            </p:cNvPr>
            <p:cNvSpPr txBox="1"/>
            <p:nvPr/>
          </p:nvSpPr>
          <p:spPr>
            <a:xfrm>
              <a:off x="4345509" y="1372865"/>
              <a:ext cx="246147" cy="153228"/>
            </a:xfrm>
            <a:prstGeom prst="rect">
              <a:avLst/>
            </a:prstGeom>
            <a:noFill/>
            <a:ln w="19050">
              <a:noFill/>
            </a:ln>
          </p:spPr>
          <p:txBody>
            <a:bodyPr wrap="none" rtlCol="0">
              <a:spAutoFit/>
            </a:bodyPr>
            <a:lstStyle/>
            <a:p>
              <a:r>
                <a:rPr lang="en-US" sz="1600" dirty="0"/>
                <a:t>ARR</a:t>
              </a:r>
              <a:endParaRPr lang="en-US" sz="1100" dirty="0"/>
            </a:p>
          </p:txBody>
        </p:sp>
        <p:sp>
          <p:nvSpPr>
            <p:cNvPr id="17" name="TextBox 16">
              <a:extLst>
                <a:ext uri="{FF2B5EF4-FFF2-40B4-BE49-F238E27FC236}">
                  <a16:creationId xmlns:a16="http://schemas.microsoft.com/office/drawing/2014/main" id="{B3AC80F9-A995-4B0A-BB4A-0553B6ED8CDC}"/>
                </a:ext>
              </a:extLst>
            </p:cNvPr>
            <p:cNvSpPr txBox="1"/>
            <p:nvPr/>
          </p:nvSpPr>
          <p:spPr>
            <a:xfrm>
              <a:off x="5974073" y="607698"/>
              <a:ext cx="314937" cy="153228"/>
            </a:xfrm>
            <a:prstGeom prst="rect">
              <a:avLst/>
            </a:prstGeom>
            <a:noFill/>
            <a:ln w="19050">
              <a:noFill/>
            </a:ln>
          </p:spPr>
          <p:txBody>
            <a:bodyPr wrap="none" rtlCol="0">
              <a:spAutoFit/>
            </a:bodyPr>
            <a:lstStyle/>
            <a:p>
              <a:r>
                <a:rPr lang="en-US" sz="1600" b="1" dirty="0"/>
                <a:t>UIF=1</a:t>
              </a:r>
            </a:p>
          </p:txBody>
        </p:sp>
        <p:cxnSp>
          <p:nvCxnSpPr>
            <p:cNvPr id="18" name="Straight Arrow Connector 17">
              <a:extLst>
                <a:ext uri="{FF2B5EF4-FFF2-40B4-BE49-F238E27FC236}">
                  <a16:creationId xmlns:a16="http://schemas.microsoft.com/office/drawing/2014/main" id="{29A1E7C4-3A3E-436A-88CE-5CE4EAEE0636}"/>
                </a:ext>
              </a:extLst>
            </p:cNvPr>
            <p:cNvCxnSpPr>
              <a:stCxn id="17" idx="2"/>
            </p:cNvCxnSpPr>
            <p:nvPr/>
          </p:nvCxnSpPr>
          <p:spPr>
            <a:xfrm flipH="1">
              <a:off x="6019800" y="760926"/>
              <a:ext cx="111741" cy="627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BB9CB56-588E-4EFF-BFB0-1C5C86D10F6B}"/>
                </a:ext>
              </a:extLst>
            </p:cNvPr>
            <p:cNvCxnSpPr>
              <a:cxnSpLocks/>
              <a:stCxn id="17" idx="2"/>
            </p:cNvCxnSpPr>
            <p:nvPr/>
          </p:nvCxnSpPr>
          <p:spPr>
            <a:xfrm>
              <a:off x="6131542" y="760926"/>
              <a:ext cx="794998" cy="60673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3DA6C95-DE64-43FF-A1A4-16A97FBB5B52}"/>
                </a:ext>
              </a:extLst>
            </p:cNvPr>
            <p:cNvSpPr txBox="1"/>
            <p:nvPr/>
          </p:nvSpPr>
          <p:spPr>
            <a:xfrm>
              <a:off x="6044106" y="2411809"/>
              <a:ext cx="649537" cy="369332"/>
            </a:xfrm>
            <a:prstGeom prst="rect">
              <a:avLst/>
            </a:prstGeom>
            <a:noFill/>
            <a:ln w="19050">
              <a:noFill/>
            </a:ln>
          </p:spPr>
          <p:txBody>
            <a:bodyPr wrap="none" rtlCol="0">
              <a:spAutoFit/>
            </a:bodyPr>
            <a:lstStyle/>
            <a:p>
              <a:r>
                <a:rPr lang="en-US" dirty="0"/>
                <a:t>Time</a:t>
              </a:r>
            </a:p>
          </p:txBody>
        </p:sp>
      </p:grpSp>
      <p:pic>
        <p:nvPicPr>
          <p:cNvPr id="22" name="Picture 21">
            <a:extLst>
              <a:ext uri="{FF2B5EF4-FFF2-40B4-BE49-F238E27FC236}">
                <a16:creationId xmlns:a16="http://schemas.microsoft.com/office/drawing/2014/main" id="{984A7D71-5E23-47C3-A06D-E48FCA5C5F5C}"/>
              </a:ext>
            </a:extLst>
          </p:cNvPr>
          <p:cNvPicPr>
            <a:picLocks noChangeAspect="1"/>
          </p:cNvPicPr>
          <p:nvPr/>
        </p:nvPicPr>
        <p:blipFill>
          <a:blip r:embed="rId2"/>
          <a:stretch>
            <a:fillRect/>
          </a:stretch>
        </p:blipFill>
        <p:spPr>
          <a:xfrm>
            <a:off x="354963" y="2263278"/>
            <a:ext cx="2227347" cy="1526396"/>
          </a:xfrm>
          <a:prstGeom prst="rect">
            <a:avLst/>
          </a:prstGeom>
        </p:spPr>
      </p:pic>
    </p:spTree>
    <p:extLst>
      <p:ext uri="{BB962C8B-B14F-4D97-AF65-F5344CB8AC3E}">
        <p14:creationId xmlns:p14="http://schemas.microsoft.com/office/powerpoint/2010/main" val="2551090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F9357-708F-423A-AE27-A8AD5FB8BB14}"/>
              </a:ext>
            </a:extLst>
          </p:cNvPr>
          <p:cNvSpPr>
            <a:spLocks noGrp="1"/>
          </p:cNvSpPr>
          <p:nvPr>
            <p:ph type="title"/>
          </p:nvPr>
        </p:nvSpPr>
        <p:spPr/>
        <p:txBody>
          <a:bodyPr/>
          <a:lstStyle/>
          <a:p>
            <a:r>
              <a:rPr lang="en-US" dirty="0"/>
              <a:t>2- As a Counter </a:t>
            </a:r>
            <a:r>
              <a:rPr lang="en-US" b="1" dirty="0"/>
              <a:t>Starting</a:t>
            </a:r>
            <a:r>
              <a:rPr lang="en-US" dirty="0"/>
              <a:t> on ext. input signal </a:t>
            </a:r>
          </a:p>
        </p:txBody>
      </p:sp>
      <p:sp>
        <p:nvSpPr>
          <p:cNvPr id="4" name="Footer Placeholder 3">
            <a:extLst>
              <a:ext uri="{FF2B5EF4-FFF2-40B4-BE49-F238E27FC236}">
                <a16:creationId xmlns:a16="http://schemas.microsoft.com/office/drawing/2014/main" id="{A984AFE1-98A4-4FC2-9E63-BCF10B3D9A1A}"/>
              </a:ext>
            </a:extLst>
          </p:cNvPr>
          <p:cNvSpPr>
            <a:spLocks noGrp="1"/>
          </p:cNvSpPr>
          <p:nvPr>
            <p:ph type="ftr" sz="quarter" idx="11"/>
          </p:nvPr>
        </p:nvSpPr>
        <p:spPr/>
        <p:txBody>
          <a:bodyPr/>
          <a:lstStyle/>
          <a:p>
            <a:r>
              <a:rPr lang="en-US" dirty="0"/>
              <a:t>ECE433/533 Boise State University - 2025 - Fady</a:t>
            </a:r>
          </a:p>
        </p:txBody>
      </p:sp>
      <p:pic>
        <p:nvPicPr>
          <p:cNvPr id="23" name="Picture 22">
            <a:extLst>
              <a:ext uri="{FF2B5EF4-FFF2-40B4-BE49-F238E27FC236}">
                <a16:creationId xmlns:a16="http://schemas.microsoft.com/office/drawing/2014/main" id="{E94AED0E-7F0D-4A33-947B-769379EB7AB6}"/>
              </a:ext>
            </a:extLst>
          </p:cNvPr>
          <p:cNvPicPr>
            <a:picLocks noChangeAspect="1"/>
          </p:cNvPicPr>
          <p:nvPr/>
        </p:nvPicPr>
        <p:blipFill rotWithShape="1">
          <a:blip r:embed="rId2"/>
          <a:srcRect l="1622" t="5303" r="1554" b="15275"/>
          <a:stretch/>
        </p:blipFill>
        <p:spPr>
          <a:xfrm>
            <a:off x="5567229" y="1417057"/>
            <a:ext cx="6824663" cy="5468939"/>
          </a:xfrm>
          <a:prstGeom prst="rect">
            <a:avLst/>
          </a:prstGeom>
        </p:spPr>
      </p:pic>
      <p:sp>
        <p:nvSpPr>
          <p:cNvPr id="3" name="Content Placeholder 2">
            <a:extLst>
              <a:ext uri="{FF2B5EF4-FFF2-40B4-BE49-F238E27FC236}">
                <a16:creationId xmlns:a16="http://schemas.microsoft.com/office/drawing/2014/main" id="{E656BA0D-77ED-478C-8CC4-3F5175596BF0}"/>
              </a:ext>
            </a:extLst>
          </p:cNvPr>
          <p:cNvSpPr>
            <a:spLocks noGrp="1"/>
          </p:cNvSpPr>
          <p:nvPr>
            <p:ph idx="1"/>
          </p:nvPr>
        </p:nvSpPr>
        <p:spPr>
          <a:xfrm>
            <a:off x="0" y="1524000"/>
            <a:ext cx="6257925" cy="5057775"/>
          </a:xfrm>
        </p:spPr>
        <p:txBody>
          <a:bodyPr>
            <a:noAutofit/>
          </a:bodyPr>
          <a:lstStyle/>
          <a:p>
            <a:pPr marL="0" indent="0" algn="l">
              <a:spcBef>
                <a:spcPts val="0"/>
              </a:spcBef>
              <a:buNone/>
            </a:pPr>
            <a:r>
              <a:rPr lang="en-US" sz="1200" b="1" dirty="0" err="1">
                <a:solidFill>
                  <a:srgbClr val="000000"/>
                </a:solidFill>
                <a:latin typeface="Consolas" panose="020B0609020204030204" pitchFamily="49" charset="0"/>
              </a:rPr>
              <a:t>TIMx_ETR</a:t>
            </a:r>
            <a:r>
              <a:rPr lang="en-US" sz="1200" b="1" dirty="0">
                <a:solidFill>
                  <a:srgbClr val="000000"/>
                </a:solidFill>
                <a:latin typeface="Consolas" panose="020B0609020204030204" pitchFamily="49" charset="0"/>
              </a:rPr>
              <a:t>: </a:t>
            </a:r>
            <a:r>
              <a:rPr lang="en-US" sz="1200" dirty="0">
                <a:solidFill>
                  <a:srgbClr val="000000"/>
                </a:solidFill>
                <a:latin typeface="Consolas" panose="020B0609020204030204" pitchFamily="49" charset="0"/>
              </a:rPr>
              <a:t>An event (pos/neg edge) will cause timer to start counting.</a:t>
            </a:r>
          </a:p>
          <a:p>
            <a:pPr marL="0" indent="0" algn="l">
              <a:spcBef>
                <a:spcPts val="0"/>
              </a:spcBef>
              <a:buNone/>
            </a:pPr>
            <a:endParaRPr lang="en-US" sz="1200" dirty="0">
              <a:solidFill>
                <a:srgbClr val="000000"/>
              </a:solidFill>
              <a:latin typeface="Consolas" panose="020B0609020204030204" pitchFamily="49" charset="0"/>
            </a:endParaRPr>
          </a:p>
          <a:p>
            <a:pPr marL="0" indent="0" algn="l">
              <a:spcBef>
                <a:spcPts val="0"/>
              </a:spcBef>
              <a:buNone/>
            </a:pPr>
            <a:endParaRPr lang="en-US" sz="1200" dirty="0">
              <a:solidFill>
                <a:srgbClr val="000000"/>
              </a:solidFill>
              <a:latin typeface="Consolas" panose="020B0609020204030204" pitchFamily="49" charset="0"/>
            </a:endParaRPr>
          </a:p>
          <a:p>
            <a:pPr marL="0" indent="0" algn="l">
              <a:spcBef>
                <a:spcPts val="0"/>
              </a:spcBef>
              <a:buNone/>
            </a:pPr>
            <a:r>
              <a:rPr lang="en-US" sz="1200" dirty="0">
                <a:solidFill>
                  <a:srgbClr val="000000"/>
                </a:solidFill>
                <a:latin typeface="Consolas" panose="020B0609020204030204" pitchFamily="49" charset="0"/>
              </a:rPr>
              <a:t>// Start counting on </a:t>
            </a:r>
            <a:r>
              <a:rPr lang="en-US" sz="1200" dirty="0" err="1">
                <a:solidFill>
                  <a:srgbClr val="000000"/>
                </a:solidFill>
                <a:latin typeface="Consolas" panose="020B0609020204030204" pitchFamily="49" charset="0"/>
              </a:rPr>
              <a:t>posedge</a:t>
            </a:r>
            <a:r>
              <a:rPr lang="en-US" sz="1200" dirty="0">
                <a:solidFill>
                  <a:srgbClr val="000000"/>
                </a:solidFill>
                <a:latin typeface="Consolas" panose="020B0609020204030204" pitchFamily="49" charset="0"/>
              </a:rPr>
              <a:t> coming on PA0</a:t>
            </a:r>
          </a:p>
          <a:p>
            <a:pPr marL="0" indent="0" algn="l">
              <a:spcBef>
                <a:spcPts val="0"/>
              </a:spcBef>
              <a:buNone/>
            </a:pPr>
            <a:endParaRPr lang="en-US" sz="1200" dirty="0">
              <a:solidFill>
                <a:srgbClr val="000000"/>
              </a:solidFill>
              <a:latin typeface="Consolas" panose="020B0609020204030204" pitchFamily="49" charset="0"/>
            </a:endParaRPr>
          </a:p>
          <a:p>
            <a:pPr marL="0" indent="0" algn="l">
              <a:spcBef>
                <a:spcPts val="0"/>
              </a:spcBef>
              <a:buNone/>
            </a:pPr>
            <a:r>
              <a:rPr lang="en-US" sz="1200" dirty="0">
                <a:solidFill>
                  <a:srgbClr val="000000"/>
                </a:solidFill>
                <a:latin typeface="Consolas" panose="020B0609020204030204" pitchFamily="49" charset="0"/>
              </a:rPr>
              <a:t>RCC-&gt;</a:t>
            </a:r>
            <a:r>
              <a:rPr lang="en-US" sz="1200" dirty="0">
                <a:solidFill>
                  <a:srgbClr val="0000C0"/>
                </a:solidFill>
                <a:latin typeface="Consolas" panose="020B0609020204030204" pitchFamily="49" charset="0"/>
              </a:rPr>
              <a:t>AHB2ENR</a:t>
            </a:r>
            <a:r>
              <a:rPr lang="en-US" sz="1200" dirty="0">
                <a:solidFill>
                  <a:srgbClr val="000000"/>
                </a:solidFill>
                <a:latin typeface="Consolas" panose="020B0609020204030204" pitchFamily="49" charset="0"/>
              </a:rPr>
              <a:t>  |= 1;      </a:t>
            </a:r>
            <a:r>
              <a:rPr lang="en-US" sz="1200" dirty="0">
                <a:solidFill>
                  <a:srgbClr val="3F7F5F"/>
                </a:solidFill>
                <a:latin typeface="Consolas" panose="020B0609020204030204" pitchFamily="49" charset="0"/>
              </a:rPr>
              <a:t>//Enable GPIOA</a:t>
            </a:r>
          </a:p>
          <a:p>
            <a:pPr marL="0" indent="0" algn="l">
              <a:spcBef>
                <a:spcPts val="0"/>
              </a:spcBef>
              <a:buNone/>
            </a:pPr>
            <a:r>
              <a:rPr lang="en-US" sz="1200" dirty="0">
                <a:solidFill>
                  <a:srgbClr val="000000"/>
                </a:solidFill>
                <a:latin typeface="Consolas" panose="020B0609020204030204" pitchFamily="49" charset="0"/>
              </a:rPr>
              <a:t>GPIOA-&gt;</a:t>
            </a:r>
            <a:r>
              <a:rPr lang="en-US" sz="1200" dirty="0">
                <a:solidFill>
                  <a:srgbClr val="0000C0"/>
                </a:solidFill>
                <a:latin typeface="Consolas" panose="020B0609020204030204" pitchFamily="49" charset="0"/>
              </a:rPr>
              <a:t>MODER</a:t>
            </a:r>
            <a:r>
              <a:rPr lang="en-US" sz="1200" dirty="0">
                <a:solidFill>
                  <a:srgbClr val="000000"/>
                </a:solidFill>
                <a:latin typeface="Consolas" panose="020B0609020204030204" pitchFamily="49" charset="0"/>
              </a:rPr>
              <a:t>  &amp;= ~(0x3); </a:t>
            </a:r>
            <a:r>
              <a:rPr lang="en-US" sz="1200" dirty="0">
                <a:solidFill>
                  <a:srgbClr val="3F7F5F"/>
                </a:solidFill>
                <a:latin typeface="Consolas" panose="020B0609020204030204" pitchFamily="49" charset="0"/>
              </a:rPr>
              <a:t>// Clear the two bits for PA0</a:t>
            </a:r>
          </a:p>
          <a:p>
            <a:pPr marL="0" indent="0" algn="l">
              <a:spcBef>
                <a:spcPts val="0"/>
              </a:spcBef>
              <a:buNone/>
            </a:pPr>
            <a:r>
              <a:rPr lang="en-US" sz="1200" dirty="0">
                <a:solidFill>
                  <a:srgbClr val="000000"/>
                </a:solidFill>
                <a:latin typeface="Consolas" panose="020B0609020204030204" pitchFamily="49" charset="0"/>
              </a:rPr>
              <a:t>GPIOA-&gt;</a:t>
            </a:r>
            <a:r>
              <a:rPr lang="en-US" sz="1200" dirty="0">
                <a:solidFill>
                  <a:srgbClr val="0000C0"/>
                </a:solidFill>
                <a:latin typeface="Consolas" panose="020B0609020204030204" pitchFamily="49" charset="0"/>
              </a:rPr>
              <a:t>MODER</a:t>
            </a:r>
            <a:r>
              <a:rPr lang="en-US" sz="1200" dirty="0">
                <a:solidFill>
                  <a:srgbClr val="000000"/>
                </a:solidFill>
                <a:latin typeface="Consolas" panose="020B0609020204030204" pitchFamily="49" charset="0"/>
              </a:rPr>
              <a:t>  |=  (0x2); </a:t>
            </a:r>
            <a:r>
              <a:rPr lang="en-US" sz="1200" dirty="0">
                <a:solidFill>
                  <a:srgbClr val="3F7F5F"/>
                </a:solidFill>
                <a:latin typeface="Consolas" panose="020B0609020204030204" pitchFamily="49" charset="0"/>
              </a:rPr>
              <a:t>// Set the mode to AF (10--&gt; 0x2)</a:t>
            </a:r>
          </a:p>
          <a:p>
            <a:pPr marL="0" indent="0" algn="l">
              <a:spcBef>
                <a:spcPts val="0"/>
              </a:spcBef>
              <a:buNone/>
            </a:pPr>
            <a:r>
              <a:rPr lang="en-US" sz="1200" dirty="0">
                <a:solidFill>
                  <a:srgbClr val="000000"/>
                </a:solidFill>
                <a:latin typeface="Consolas" panose="020B0609020204030204" pitchFamily="49" charset="0"/>
              </a:rPr>
              <a:t>GPIOA-&gt;</a:t>
            </a:r>
            <a:r>
              <a:rPr lang="en-US" sz="1200" dirty="0">
                <a:solidFill>
                  <a:srgbClr val="0000C0"/>
                </a:solidFill>
                <a:latin typeface="Consolas" panose="020B0609020204030204" pitchFamily="49" charset="0"/>
              </a:rPr>
              <a:t>AFR</a:t>
            </a:r>
            <a:r>
              <a:rPr lang="en-US" sz="1200" dirty="0">
                <a:solidFill>
                  <a:srgbClr val="000000"/>
                </a:solidFill>
                <a:latin typeface="Consolas" panose="020B0609020204030204" pitchFamily="49" charset="0"/>
              </a:rPr>
              <a:t>[0] &amp;= ~(0xF); </a:t>
            </a:r>
            <a:r>
              <a:rPr lang="en-US" sz="1200" dirty="0">
                <a:solidFill>
                  <a:srgbClr val="3F7F5F"/>
                </a:solidFill>
                <a:latin typeface="Consolas" panose="020B0609020204030204" pitchFamily="49" charset="0"/>
              </a:rPr>
              <a:t>// Clear the 4 bits for PA0</a:t>
            </a:r>
          </a:p>
          <a:p>
            <a:pPr marL="0" indent="0" algn="l">
              <a:spcBef>
                <a:spcPts val="0"/>
              </a:spcBef>
              <a:buNone/>
            </a:pPr>
            <a:r>
              <a:rPr lang="en-US" sz="1200" dirty="0">
                <a:solidFill>
                  <a:srgbClr val="000000"/>
                </a:solidFill>
                <a:latin typeface="Consolas" panose="020B0609020204030204" pitchFamily="49" charset="0"/>
              </a:rPr>
              <a:t>GPIOA-&gt;</a:t>
            </a:r>
            <a:r>
              <a:rPr lang="en-US" sz="1200" dirty="0">
                <a:solidFill>
                  <a:srgbClr val="0000C0"/>
                </a:solidFill>
                <a:latin typeface="Consolas" panose="020B0609020204030204" pitchFamily="49" charset="0"/>
              </a:rPr>
              <a:t>AFR</a:t>
            </a:r>
            <a:r>
              <a:rPr lang="en-US" sz="1200" dirty="0">
                <a:solidFill>
                  <a:srgbClr val="000000"/>
                </a:solidFill>
                <a:latin typeface="Consolas" panose="020B0609020204030204" pitchFamily="49" charset="0"/>
              </a:rPr>
              <a:t>[0] |=  (0xe); </a:t>
            </a:r>
            <a:r>
              <a:rPr lang="en-US" sz="1200" dirty="0">
                <a:solidFill>
                  <a:srgbClr val="3F7F5F"/>
                </a:solidFill>
                <a:latin typeface="Consolas" panose="020B0609020204030204" pitchFamily="49" charset="0"/>
              </a:rPr>
              <a:t>// Set the 4 bits to (AF14) to connect to TIM2_ETR</a:t>
            </a:r>
          </a:p>
          <a:p>
            <a:pPr marL="0" indent="0" algn="l">
              <a:spcBef>
                <a:spcPts val="0"/>
              </a:spcBef>
              <a:buNone/>
            </a:pPr>
            <a:endParaRPr lang="en-US" sz="1200" dirty="0">
              <a:latin typeface="Consolas" panose="020B0609020204030204" pitchFamily="49" charset="0"/>
            </a:endParaRPr>
          </a:p>
          <a:p>
            <a:pPr marL="0" indent="0" algn="l">
              <a:spcBef>
                <a:spcPts val="0"/>
              </a:spcBef>
              <a:buNone/>
            </a:pPr>
            <a:r>
              <a:rPr lang="en-US" sz="1200" dirty="0">
                <a:solidFill>
                  <a:srgbClr val="000000"/>
                </a:solidFill>
                <a:latin typeface="Consolas" panose="020B0609020204030204" pitchFamily="49" charset="0"/>
              </a:rPr>
              <a:t>RCC-&gt;</a:t>
            </a:r>
            <a:r>
              <a:rPr lang="en-US" sz="1200" dirty="0">
                <a:solidFill>
                  <a:srgbClr val="0000C0"/>
                </a:solidFill>
                <a:latin typeface="Consolas" panose="020B0609020204030204" pitchFamily="49" charset="0"/>
              </a:rPr>
              <a:t>APB1ENR1</a:t>
            </a:r>
            <a:r>
              <a:rPr lang="en-US" sz="1200" dirty="0">
                <a:solidFill>
                  <a:srgbClr val="000000"/>
                </a:solidFill>
                <a:latin typeface="Consolas" panose="020B0609020204030204" pitchFamily="49" charset="0"/>
              </a:rPr>
              <a:t> |= 1;    </a:t>
            </a:r>
            <a:r>
              <a:rPr lang="en-US" sz="1200" dirty="0">
                <a:solidFill>
                  <a:srgbClr val="3F7F5F"/>
                </a:solidFill>
                <a:latin typeface="Consolas" panose="020B0609020204030204" pitchFamily="49" charset="0"/>
              </a:rPr>
              <a:t>/* enable TIM2 clock */</a:t>
            </a:r>
          </a:p>
          <a:p>
            <a:pPr marL="0" indent="0" algn="l">
              <a:spcBef>
                <a:spcPts val="0"/>
              </a:spcBef>
              <a:buNone/>
            </a:pPr>
            <a:r>
              <a:rPr lang="en-US" sz="1200" dirty="0">
                <a:solidFill>
                  <a:srgbClr val="3F7F5F"/>
                </a:solidFill>
                <a:latin typeface="Consolas" panose="020B0609020204030204" pitchFamily="49" charset="0"/>
              </a:rPr>
              <a:t>// Configure TIM2 to use external input as counter clock source</a:t>
            </a:r>
          </a:p>
          <a:p>
            <a:pPr marL="0" indent="0" algn="l">
              <a:spcBef>
                <a:spcPts val="0"/>
              </a:spcBef>
              <a:buNone/>
            </a:pPr>
            <a:r>
              <a:rPr lang="en-US" sz="1200" dirty="0">
                <a:solidFill>
                  <a:srgbClr val="000000"/>
                </a:solidFill>
                <a:latin typeface="Consolas" panose="020B0609020204030204" pitchFamily="49" charset="0"/>
              </a:rPr>
              <a:t>TIM2-&gt;</a:t>
            </a:r>
            <a:r>
              <a:rPr lang="en-US" sz="1200" dirty="0">
                <a:solidFill>
                  <a:srgbClr val="0000C0"/>
                </a:solidFill>
                <a:latin typeface="Consolas" panose="020B0609020204030204" pitchFamily="49" charset="0"/>
              </a:rPr>
              <a:t>SMCR</a:t>
            </a:r>
            <a:r>
              <a:rPr lang="en-US" sz="1200" dirty="0">
                <a:solidFill>
                  <a:srgbClr val="000000"/>
                </a:solidFill>
                <a:latin typeface="Consolas" panose="020B0609020204030204" pitchFamily="49" charset="0"/>
              </a:rPr>
              <a:t> = 0x0077; </a:t>
            </a:r>
            <a:r>
              <a:rPr lang="en-US" sz="1200" dirty="0">
                <a:solidFill>
                  <a:srgbClr val="3F7F5F"/>
                </a:solidFill>
                <a:latin typeface="Consolas" panose="020B0609020204030204" pitchFamily="49" charset="0"/>
              </a:rPr>
              <a:t>// Set Slave Mode Control Register with the following configuration:</a:t>
            </a:r>
          </a:p>
          <a:p>
            <a:pPr marL="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 External Clock Mode 1- Rising edges of the selected trigger (TRGI) clock the counter</a:t>
            </a:r>
          </a:p>
          <a:p>
            <a:pPr marL="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 External Trigger input (ETRF)</a:t>
            </a:r>
          </a:p>
          <a:p>
            <a:pPr marL="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 External trigger </a:t>
            </a:r>
            <a:r>
              <a:rPr lang="en-US" sz="1200" u="sng" dirty="0" err="1">
                <a:solidFill>
                  <a:srgbClr val="3F7F5F"/>
                </a:solidFill>
                <a:latin typeface="Consolas" panose="020B0609020204030204" pitchFamily="49" charset="0"/>
              </a:rPr>
              <a:t>prescaler</a:t>
            </a:r>
            <a:r>
              <a:rPr lang="en-US" sz="1200" u="sng" dirty="0">
                <a:solidFill>
                  <a:srgbClr val="3F7F5F"/>
                </a:solidFill>
                <a:latin typeface="Consolas" panose="020B0609020204030204" pitchFamily="49" charset="0"/>
              </a:rPr>
              <a:t> OFF</a:t>
            </a:r>
          </a:p>
          <a:p>
            <a:pPr marL="0" indent="0" algn="l">
              <a:spcBef>
                <a:spcPts val="0"/>
              </a:spcBef>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 External clock mode 2 enabled.</a:t>
            </a:r>
          </a:p>
          <a:p>
            <a:pPr marL="0" indent="0" algn="l">
              <a:spcBef>
                <a:spcPts val="0"/>
              </a:spcBef>
              <a:buNone/>
            </a:pPr>
            <a:r>
              <a:rPr lang="en-US" sz="1200" dirty="0">
                <a:solidFill>
                  <a:srgbClr val="000000"/>
                </a:solidFill>
                <a:latin typeface="Consolas" panose="020B0609020204030204" pitchFamily="49" charset="0"/>
              </a:rPr>
              <a:t>TIM2-&gt;</a:t>
            </a:r>
            <a:r>
              <a:rPr lang="en-US" sz="1200" dirty="0">
                <a:solidFill>
                  <a:srgbClr val="0000C0"/>
                </a:solidFill>
                <a:latin typeface="Consolas" panose="020B0609020204030204" pitchFamily="49" charset="0"/>
              </a:rPr>
              <a:t>CNT</a:t>
            </a:r>
            <a:r>
              <a:rPr lang="en-US" sz="1200" dirty="0">
                <a:solidFill>
                  <a:srgbClr val="000000"/>
                </a:solidFill>
                <a:latin typeface="Consolas" panose="020B0609020204030204" pitchFamily="49" charset="0"/>
              </a:rPr>
              <a:t> = 0;       </a:t>
            </a:r>
            <a:r>
              <a:rPr lang="en-US" sz="1200" dirty="0">
                <a:solidFill>
                  <a:srgbClr val="3F7F5F"/>
                </a:solidFill>
                <a:latin typeface="Consolas" panose="020B0609020204030204" pitchFamily="49" charset="0"/>
              </a:rPr>
              <a:t>/* clear counter */</a:t>
            </a:r>
          </a:p>
          <a:p>
            <a:pPr marL="0" indent="0" algn="l">
              <a:spcBef>
                <a:spcPts val="0"/>
              </a:spcBef>
              <a:buNone/>
            </a:pPr>
            <a:r>
              <a:rPr lang="en-US" sz="1200" dirty="0">
                <a:solidFill>
                  <a:srgbClr val="000000"/>
                </a:solidFill>
                <a:latin typeface="Consolas" panose="020B0609020204030204" pitchFamily="49" charset="0"/>
              </a:rPr>
              <a:t>TIM2-&gt;</a:t>
            </a:r>
            <a:r>
              <a:rPr lang="en-US" sz="1200" dirty="0">
                <a:solidFill>
                  <a:srgbClr val="0000C0"/>
                </a:solidFill>
                <a:latin typeface="Consolas" panose="020B0609020204030204" pitchFamily="49" charset="0"/>
              </a:rPr>
              <a:t>CR1</a:t>
            </a:r>
            <a:r>
              <a:rPr lang="en-US" sz="1200" dirty="0">
                <a:solidFill>
                  <a:srgbClr val="000000"/>
                </a:solidFill>
                <a:latin typeface="Consolas" panose="020B0609020204030204" pitchFamily="49" charset="0"/>
              </a:rPr>
              <a:t> = 1;       </a:t>
            </a:r>
            <a:r>
              <a:rPr lang="en-US" sz="1200" dirty="0">
                <a:solidFill>
                  <a:srgbClr val="3F7F5F"/>
                </a:solidFill>
                <a:latin typeface="Consolas" panose="020B0609020204030204" pitchFamily="49" charset="0"/>
              </a:rPr>
              <a:t>/* enable TIM2 to counts up */</a:t>
            </a:r>
            <a:endParaRPr lang="en-US" sz="1200" dirty="0"/>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F256765E-0355-464E-A081-D5F955588E3F}"/>
                  </a:ext>
                </a:extLst>
              </p14:cNvPr>
              <p14:cNvContentPartPr/>
              <p14:nvPr/>
            </p14:nvContentPartPr>
            <p14:xfrm>
              <a:off x="5533830" y="2023207"/>
              <a:ext cx="4953600" cy="2128320"/>
            </p14:xfrm>
          </p:contentPart>
        </mc:Choice>
        <mc:Fallback xmlns="">
          <p:pic>
            <p:nvPicPr>
              <p:cNvPr id="21" name="Ink 20">
                <a:extLst>
                  <a:ext uri="{FF2B5EF4-FFF2-40B4-BE49-F238E27FC236}">
                    <a16:creationId xmlns:a16="http://schemas.microsoft.com/office/drawing/2014/main" id="{F256765E-0355-464E-A081-D5F955588E3F}"/>
                  </a:ext>
                </a:extLst>
              </p:cNvPr>
              <p:cNvPicPr/>
              <p:nvPr/>
            </p:nvPicPr>
            <p:blipFill>
              <a:blip r:embed="rId4"/>
              <a:stretch>
                <a:fillRect/>
              </a:stretch>
            </p:blipFill>
            <p:spPr>
              <a:xfrm>
                <a:off x="5480190" y="1915567"/>
                <a:ext cx="5061240" cy="2343960"/>
              </a:xfrm>
              <a:prstGeom prst="rect">
                <a:avLst/>
              </a:prstGeom>
            </p:spPr>
          </p:pic>
        </mc:Fallback>
      </mc:AlternateContent>
    </p:spTree>
    <p:extLst>
      <p:ext uri="{BB962C8B-B14F-4D97-AF65-F5344CB8AC3E}">
        <p14:creationId xmlns:p14="http://schemas.microsoft.com/office/powerpoint/2010/main" val="2565361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F9357-708F-423A-AE27-A8AD5FB8BB14}"/>
              </a:ext>
            </a:extLst>
          </p:cNvPr>
          <p:cNvSpPr>
            <a:spLocks noGrp="1"/>
          </p:cNvSpPr>
          <p:nvPr>
            <p:ph type="title"/>
          </p:nvPr>
        </p:nvSpPr>
        <p:spPr/>
        <p:txBody>
          <a:bodyPr/>
          <a:lstStyle/>
          <a:p>
            <a:r>
              <a:rPr lang="en-US" dirty="0"/>
              <a:t>2- As a Counter of ext. input signal </a:t>
            </a:r>
          </a:p>
        </p:txBody>
      </p:sp>
      <p:sp>
        <p:nvSpPr>
          <p:cNvPr id="4" name="Footer Placeholder 3">
            <a:extLst>
              <a:ext uri="{FF2B5EF4-FFF2-40B4-BE49-F238E27FC236}">
                <a16:creationId xmlns:a16="http://schemas.microsoft.com/office/drawing/2014/main" id="{A984AFE1-98A4-4FC2-9E63-BCF10B3D9A1A}"/>
              </a:ext>
            </a:extLst>
          </p:cNvPr>
          <p:cNvSpPr>
            <a:spLocks noGrp="1"/>
          </p:cNvSpPr>
          <p:nvPr>
            <p:ph type="ftr" sz="quarter" idx="11"/>
          </p:nvPr>
        </p:nvSpPr>
        <p:spPr/>
        <p:txBody>
          <a:bodyPr/>
          <a:lstStyle/>
          <a:p>
            <a:r>
              <a:rPr lang="en-US" dirty="0"/>
              <a:t>ECE433/533 Boise State University - 2025 - Fady</a:t>
            </a:r>
          </a:p>
        </p:txBody>
      </p:sp>
      <p:pic>
        <p:nvPicPr>
          <p:cNvPr id="6" name="Picture 5">
            <a:extLst>
              <a:ext uri="{FF2B5EF4-FFF2-40B4-BE49-F238E27FC236}">
                <a16:creationId xmlns:a16="http://schemas.microsoft.com/office/drawing/2014/main" id="{33E29C0A-3CE8-7DDC-DF00-5F7246838428}"/>
              </a:ext>
            </a:extLst>
          </p:cNvPr>
          <p:cNvPicPr>
            <a:picLocks noChangeAspect="1"/>
          </p:cNvPicPr>
          <p:nvPr/>
        </p:nvPicPr>
        <p:blipFill>
          <a:blip r:embed="rId2"/>
          <a:stretch>
            <a:fillRect/>
          </a:stretch>
        </p:blipFill>
        <p:spPr>
          <a:xfrm>
            <a:off x="6493569" y="2311397"/>
            <a:ext cx="5698431" cy="3877734"/>
          </a:xfrm>
          <a:prstGeom prst="rect">
            <a:avLst/>
          </a:prstGeom>
        </p:spPr>
      </p:pic>
      <p:sp>
        <p:nvSpPr>
          <p:cNvPr id="3" name="Content Placeholder 2">
            <a:extLst>
              <a:ext uri="{FF2B5EF4-FFF2-40B4-BE49-F238E27FC236}">
                <a16:creationId xmlns:a16="http://schemas.microsoft.com/office/drawing/2014/main" id="{E656BA0D-77ED-478C-8CC4-3F5175596BF0}"/>
              </a:ext>
            </a:extLst>
          </p:cNvPr>
          <p:cNvSpPr>
            <a:spLocks noGrp="1"/>
          </p:cNvSpPr>
          <p:nvPr>
            <p:ph idx="1"/>
          </p:nvPr>
        </p:nvSpPr>
        <p:spPr>
          <a:xfrm>
            <a:off x="-1" y="1524000"/>
            <a:ext cx="6836833" cy="5057775"/>
          </a:xfrm>
        </p:spPr>
        <p:txBody>
          <a:bodyPr>
            <a:noAutofit/>
          </a:bodyPr>
          <a:lstStyle/>
          <a:p>
            <a:pPr marL="0" indent="0" algn="l">
              <a:lnSpc>
                <a:spcPct val="100000"/>
              </a:lnSpc>
              <a:spcBef>
                <a:spcPts val="0"/>
              </a:spcBef>
              <a:buNone/>
            </a:pPr>
            <a:r>
              <a:rPr lang="en-US" sz="1400" b="1" dirty="0" err="1">
                <a:solidFill>
                  <a:srgbClr val="000000"/>
                </a:solidFill>
                <a:latin typeface="Consolas" panose="020B0609020204030204" pitchFamily="49" charset="0"/>
              </a:rPr>
              <a:t>TIMx_IN</a:t>
            </a:r>
            <a:r>
              <a:rPr lang="en-US" sz="1400" b="1" dirty="0">
                <a:solidFill>
                  <a:srgbClr val="000000"/>
                </a:solidFill>
                <a:latin typeface="Consolas" panose="020B0609020204030204" pitchFamily="49" charset="0"/>
              </a:rPr>
              <a:t>: </a:t>
            </a:r>
            <a:r>
              <a:rPr lang="en-US" sz="1400" dirty="0">
                <a:solidFill>
                  <a:srgbClr val="000000"/>
                </a:solidFill>
                <a:latin typeface="Consolas" panose="020B0609020204030204" pitchFamily="49" charset="0"/>
              </a:rPr>
              <a:t>An event (pos/neg edge) will cause timer to increment by 1</a:t>
            </a:r>
          </a:p>
          <a:p>
            <a:pPr marL="0" indent="0" algn="l">
              <a:lnSpc>
                <a:spcPct val="100000"/>
              </a:lnSpc>
              <a:spcBef>
                <a:spcPts val="600"/>
              </a:spcBef>
              <a:buNone/>
            </a:pPr>
            <a:r>
              <a:rPr lang="en-US" sz="1400" dirty="0">
                <a:solidFill>
                  <a:srgbClr val="3F7F5F"/>
                </a:solidFill>
                <a:latin typeface="Consolas" panose="020B0609020204030204" pitchFamily="49" charset="0"/>
              </a:rPr>
              <a:t>// Configure LPTIM1 to use external input as counter clock source</a:t>
            </a:r>
          </a:p>
          <a:p>
            <a:pPr marL="0" indent="0" algn="l">
              <a:lnSpc>
                <a:spcPct val="100000"/>
              </a:lnSpc>
              <a:spcBef>
                <a:spcPts val="600"/>
              </a:spcBef>
              <a:buNone/>
            </a:pPr>
            <a:r>
              <a:rPr lang="en-US" sz="1400" dirty="0">
                <a:solidFill>
                  <a:srgbClr val="3F7F5F"/>
                </a:solidFill>
                <a:latin typeface="Consolas" panose="020B0609020204030204" pitchFamily="49" charset="0"/>
              </a:rPr>
              <a:t>// LPTIM_IN1b at PB5</a:t>
            </a:r>
          </a:p>
          <a:p>
            <a:pPr marL="0" indent="0" algn="l">
              <a:lnSpc>
                <a:spcPct val="100000"/>
              </a:lnSpc>
              <a:spcBef>
                <a:spcPts val="600"/>
              </a:spcBef>
              <a:buNone/>
            </a:pPr>
            <a:r>
              <a:rPr lang="en-US" sz="1400" dirty="0">
                <a:solidFill>
                  <a:srgbClr val="000000"/>
                </a:solidFill>
                <a:latin typeface="Consolas" panose="020B0609020204030204" pitchFamily="49" charset="0"/>
              </a:rPr>
              <a:t>RCC-&gt;</a:t>
            </a:r>
            <a:r>
              <a:rPr lang="en-US" sz="1400" dirty="0">
                <a:solidFill>
                  <a:srgbClr val="0000C0"/>
                </a:solidFill>
                <a:latin typeface="Consolas" panose="020B0609020204030204" pitchFamily="49" charset="0"/>
              </a:rPr>
              <a:t>APB1ENR1</a:t>
            </a:r>
            <a:r>
              <a:rPr lang="en-US" sz="1400" dirty="0">
                <a:solidFill>
                  <a:srgbClr val="000000"/>
                </a:solidFill>
                <a:latin typeface="Consolas" panose="020B0609020204030204" pitchFamily="49" charset="0"/>
              </a:rPr>
              <a:t> |= 1 &lt;&lt; 31;    </a:t>
            </a:r>
            <a:r>
              <a:rPr lang="en-US" sz="1400" dirty="0">
                <a:solidFill>
                  <a:srgbClr val="3F7F5F"/>
                </a:solidFill>
                <a:latin typeface="Consolas" panose="020B0609020204030204" pitchFamily="49" charset="0"/>
              </a:rPr>
              <a:t>/* enable LPTIM1 clock */</a:t>
            </a:r>
          </a:p>
          <a:p>
            <a:pPr marL="0" indent="0" algn="l">
              <a:lnSpc>
                <a:spcPct val="100000"/>
              </a:lnSpc>
              <a:spcBef>
                <a:spcPts val="600"/>
              </a:spcBef>
              <a:buNone/>
            </a:pPr>
            <a:r>
              <a:rPr lang="en-US" sz="1400" dirty="0">
                <a:solidFill>
                  <a:srgbClr val="000000"/>
                </a:solidFill>
                <a:latin typeface="Consolas" panose="020B0609020204030204" pitchFamily="49" charset="0"/>
              </a:rPr>
              <a:t>LPTIM1-&gt;</a:t>
            </a:r>
            <a:r>
              <a:rPr lang="en-US" sz="1400" dirty="0">
                <a:solidFill>
                  <a:srgbClr val="0000C0"/>
                </a:solidFill>
                <a:latin typeface="Consolas" panose="020B0609020204030204" pitchFamily="49" charset="0"/>
              </a:rPr>
              <a:t>CFGR</a:t>
            </a:r>
            <a:r>
              <a:rPr lang="en-US" sz="1400" dirty="0">
                <a:solidFill>
                  <a:srgbClr val="000000"/>
                </a:solidFill>
                <a:latin typeface="Consolas" panose="020B0609020204030204" pitchFamily="49" charset="0"/>
              </a:rPr>
              <a:t>   = 1|(1 &lt;&lt; 23);</a:t>
            </a:r>
            <a:r>
              <a:rPr lang="en-US" sz="1400" dirty="0">
                <a:solidFill>
                  <a:srgbClr val="3F7F5F"/>
                </a:solidFill>
                <a:latin typeface="Consolas" panose="020B0609020204030204" pitchFamily="49" charset="0"/>
              </a:rPr>
              <a:t>/* use external clock source, increment counter using external input */</a:t>
            </a:r>
          </a:p>
          <a:p>
            <a:pPr marL="0" indent="0" algn="l">
              <a:lnSpc>
                <a:spcPct val="100000"/>
              </a:lnSpc>
              <a:spcBef>
                <a:spcPts val="600"/>
              </a:spcBef>
              <a:buNone/>
            </a:pPr>
            <a:r>
              <a:rPr lang="en-US" sz="1400" dirty="0">
                <a:solidFill>
                  <a:srgbClr val="000000"/>
                </a:solidFill>
                <a:latin typeface="Consolas" panose="020B0609020204030204" pitchFamily="49" charset="0"/>
              </a:rPr>
              <a:t>LPTIM1-&gt;</a:t>
            </a:r>
            <a:r>
              <a:rPr lang="en-US" sz="1400" dirty="0">
                <a:solidFill>
                  <a:srgbClr val="0000C0"/>
                </a:solidFill>
                <a:latin typeface="Consolas" panose="020B0609020204030204" pitchFamily="49" charset="0"/>
              </a:rPr>
              <a:t>CNT</a:t>
            </a:r>
            <a:r>
              <a:rPr lang="en-US" sz="1400" dirty="0">
                <a:solidFill>
                  <a:srgbClr val="000000"/>
                </a:solidFill>
                <a:latin typeface="Consolas" panose="020B0609020204030204" pitchFamily="49" charset="0"/>
              </a:rPr>
              <a:t> = 0;     </a:t>
            </a:r>
            <a:r>
              <a:rPr lang="en-US" sz="1400" dirty="0">
                <a:solidFill>
                  <a:srgbClr val="3F7F5F"/>
                </a:solidFill>
                <a:latin typeface="Consolas" panose="020B0609020204030204" pitchFamily="49" charset="0"/>
              </a:rPr>
              <a:t>/* reset count to 0 */</a:t>
            </a:r>
          </a:p>
          <a:p>
            <a:pPr marL="0" indent="0" algn="l">
              <a:lnSpc>
                <a:spcPct val="100000"/>
              </a:lnSpc>
              <a:spcBef>
                <a:spcPts val="600"/>
              </a:spcBef>
              <a:buNone/>
            </a:pPr>
            <a:r>
              <a:rPr lang="en-US" sz="1400" dirty="0">
                <a:solidFill>
                  <a:srgbClr val="000000"/>
                </a:solidFill>
                <a:latin typeface="Consolas" panose="020B0609020204030204" pitchFamily="49" charset="0"/>
              </a:rPr>
              <a:t>LPTIM1-&gt;</a:t>
            </a:r>
            <a:r>
              <a:rPr lang="en-US" sz="1400" dirty="0">
                <a:solidFill>
                  <a:srgbClr val="0000C0"/>
                </a:solidFill>
                <a:latin typeface="Consolas" panose="020B0609020204030204" pitchFamily="49" charset="0"/>
              </a:rPr>
              <a:t>CR</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 Enable timer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LPTIM1-&gt;</a:t>
            </a:r>
            <a:r>
              <a:rPr kumimoji="0" lang="en-US" sz="1400" b="0" i="0" u="none" strike="noStrike" kern="1200" cap="none" spc="0" normalizeH="0" baseline="0" noProof="0" dirty="0">
                <a:ln>
                  <a:noFill/>
                </a:ln>
                <a:solidFill>
                  <a:srgbClr val="0000C0"/>
                </a:solidFill>
                <a:effectLst/>
                <a:uLnTx/>
                <a:uFillTx/>
                <a:latin typeface="Consolas" panose="020B0609020204030204" pitchFamily="49" charset="0"/>
                <a:ea typeface="+mn-ea"/>
                <a:cs typeface="+mn-cs"/>
              </a:rPr>
              <a:t>CR</a:t>
            </a: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0b101; </a:t>
            </a:r>
            <a:r>
              <a:rPr kumimoji="0" lang="en-US" sz="1400" b="0" i="0" u="none" strike="noStrike" kern="1200" cap="none" spc="0" normalizeH="0" baseline="0" noProof="0" dirty="0">
                <a:ln>
                  <a:noFill/>
                </a:ln>
                <a:solidFill>
                  <a:srgbClr val="3F7F5F"/>
                </a:solidFill>
                <a:effectLst/>
                <a:uLnTx/>
                <a:uFillTx/>
                <a:latin typeface="Consolas" panose="020B0609020204030204" pitchFamily="49" charset="0"/>
                <a:ea typeface="+mn-ea"/>
                <a:cs typeface="+mn-cs"/>
              </a:rPr>
              <a:t>/* Timer in continuous mode – LPTIM must be enabled */</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LPTIM1-&gt;</a:t>
            </a:r>
            <a:r>
              <a:rPr kumimoji="0" lang="en-US" sz="1400" b="0" i="0" u="none" strike="noStrike" kern="1200" cap="none" spc="0" normalizeH="0" baseline="0" noProof="0" dirty="0">
                <a:ln>
                  <a:noFill/>
                </a:ln>
                <a:solidFill>
                  <a:srgbClr val="0000C0"/>
                </a:solidFill>
                <a:effectLst/>
                <a:uLnTx/>
                <a:uFillTx/>
                <a:latin typeface="Consolas" panose="020B0609020204030204" pitchFamily="49" charset="0"/>
                <a:ea typeface="+mn-ea"/>
                <a:cs typeface="+mn-cs"/>
              </a:rPr>
              <a:t>ARR</a:t>
            </a: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100-1; </a:t>
            </a:r>
            <a:r>
              <a:rPr kumimoji="0" lang="en-US" sz="1400" b="0" i="0" u="none" strike="noStrike" kern="1200" cap="none" spc="0" normalizeH="0" baseline="0" noProof="0" dirty="0">
                <a:ln>
                  <a:noFill/>
                </a:ln>
                <a:solidFill>
                  <a:srgbClr val="3F7F5F"/>
                </a:solidFill>
                <a:effectLst/>
                <a:uLnTx/>
                <a:uFillTx/>
                <a:latin typeface="Consolas" panose="020B0609020204030204" pitchFamily="49" charset="0"/>
                <a:ea typeface="+mn-ea"/>
                <a:cs typeface="+mn-cs"/>
              </a:rPr>
              <a:t>/* count up 100 times */</a:t>
            </a:r>
          </a:p>
          <a:p>
            <a:pPr marL="0" indent="0" algn="l">
              <a:lnSpc>
                <a:spcPct val="100000"/>
              </a:lnSpc>
              <a:buNone/>
            </a:pPr>
            <a:endParaRPr lang="en-US" sz="1100" dirty="0"/>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C716E4F4-EFD7-BA9D-3369-025491246A2A}"/>
                  </a:ext>
                </a:extLst>
              </p14:cNvPr>
              <p14:cNvContentPartPr/>
              <p14:nvPr/>
            </p14:nvContentPartPr>
            <p14:xfrm>
              <a:off x="10413613" y="3766518"/>
              <a:ext cx="1515960" cy="149760"/>
            </p14:xfrm>
          </p:contentPart>
        </mc:Choice>
        <mc:Fallback xmlns="">
          <p:pic>
            <p:nvPicPr>
              <p:cNvPr id="8" name="Ink 7">
                <a:extLst>
                  <a:ext uri="{FF2B5EF4-FFF2-40B4-BE49-F238E27FC236}">
                    <a16:creationId xmlns:a16="http://schemas.microsoft.com/office/drawing/2014/main" id="{C716E4F4-EFD7-BA9D-3369-025491246A2A}"/>
                  </a:ext>
                </a:extLst>
              </p:cNvPr>
              <p:cNvPicPr/>
              <p:nvPr/>
            </p:nvPicPr>
            <p:blipFill>
              <a:blip r:embed="rId4"/>
              <a:stretch>
                <a:fillRect/>
              </a:stretch>
            </p:blipFill>
            <p:spPr>
              <a:xfrm>
                <a:off x="10359973" y="3658518"/>
                <a:ext cx="162360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2683C0F5-E276-EC64-2AF0-273DD7D87D87}"/>
                  </a:ext>
                </a:extLst>
              </p14:cNvPr>
              <p14:cNvContentPartPr/>
              <p14:nvPr/>
            </p14:nvContentPartPr>
            <p14:xfrm>
              <a:off x="8580133" y="3767238"/>
              <a:ext cx="1791720" cy="1225440"/>
            </p14:xfrm>
          </p:contentPart>
        </mc:Choice>
        <mc:Fallback xmlns="">
          <p:pic>
            <p:nvPicPr>
              <p:cNvPr id="9" name="Ink 8">
                <a:extLst>
                  <a:ext uri="{FF2B5EF4-FFF2-40B4-BE49-F238E27FC236}">
                    <a16:creationId xmlns:a16="http://schemas.microsoft.com/office/drawing/2014/main" id="{2683C0F5-E276-EC64-2AF0-273DD7D87D87}"/>
                  </a:ext>
                </a:extLst>
              </p:cNvPr>
              <p:cNvPicPr/>
              <p:nvPr/>
            </p:nvPicPr>
            <p:blipFill>
              <a:blip r:embed="rId6"/>
              <a:stretch>
                <a:fillRect/>
              </a:stretch>
            </p:blipFill>
            <p:spPr>
              <a:xfrm>
                <a:off x="8526133" y="3659598"/>
                <a:ext cx="1899360" cy="1441080"/>
              </a:xfrm>
              <a:prstGeom prst="rect">
                <a:avLst/>
              </a:prstGeom>
            </p:spPr>
          </p:pic>
        </mc:Fallback>
      </mc:AlternateContent>
    </p:spTree>
    <p:extLst>
      <p:ext uri="{BB962C8B-B14F-4D97-AF65-F5344CB8AC3E}">
        <p14:creationId xmlns:p14="http://schemas.microsoft.com/office/powerpoint/2010/main" val="543157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9F079-6D27-D221-4F63-3E1DF7C52C19}"/>
              </a:ext>
            </a:extLst>
          </p:cNvPr>
          <p:cNvSpPr>
            <a:spLocks noGrp="1"/>
          </p:cNvSpPr>
          <p:nvPr>
            <p:ph type="title"/>
          </p:nvPr>
        </p:nvSpPr>
        <p:spPr>
          <a:xfrm>
            <a:off x="838200" y="365125"/>
            <a:ext cx="5358414" cy="1325563"/>
          </a:xfrm>
        </p:spPr>
        <p:txBody>
          <a:bodyPr/>
          <a:lstStyle/>
          <a:p>
            <a:r>
              <a:rPr lang="en-US" dirty="0" err="1"/>
              <a:t>TIMx</a:t>
            </a:r>
            <a:r>
              <a:rPr lang="en-US" dirty="0"/>
              <a:t>-&gt;CCMR</a:t>
            </a:r>
          </a:p>
        </p:txBody>
      </p:sp>
      <p:sp>
        <p:nvSpPr>
          <p:cNvPr id="3" name="Content Placeholder 2">
            <a:extLst>
              <a:ext uri="{FF2B5EF4-FFF2-40B4-BE49-F238E27FC236}">
                <a16:creationId xmlns:a16="http://schemas.microsoft.com/office/drawing/2014/main" id="{C01EF49E-B277-F449-6DDE-537502C14EC3}"/>
              </a:ext>
            </a:extLst>
          </p:cNvPr>
          <p:cNvSpPr>
            <a:spLocks noGrp="1"/>
          </p:cNvSpPr>
          <p:nvPr>
            <p:ph idx="1"/>
          </p:nvPr>
        </p:nvSpPr>
        <p:spPr>
          <a:xfrm>
            <a:off x="838200" y="1825625"/>
            <a:ext cx="5047695" cy="4351338"/>
          </a:xfrm>
        </p:spPr>
        <p:txBody>
          <a:bodyPr/>
          <a:lstStyle/>
          <a:p>
            <a:r>
              <a:rPr lang="en-US" dirty="0" err="1"/>
              <a:t>OCxM</a:t>
            </a:r>
            <a:r>
              <a:rPr lang="en-US" dirty="0"/>
              <a:t>[3:0] configures the compare mode</a:t>
            </a:r>
          </a:p>
          <a:p>
            <a:pPr lvl="1"/>
            <a:r>
              <a:rPr lang="en-US" dirty="0"/>
              <a:t>Set/clear/toggle on CCR match</a:t>
            </a:r>
          </a:p>
          <a:p>
            <a:pPr lvl="1"/>
            <a:r>
              <a:rPr lang="en-US" dirty="0"/>
              <a:t>PWM</a:t>
            </a:r>
          </a:p>
        </p:txBody>
      </p:sp>
      <p:sp>
        <p:nvSpPr>
          <p:cNvPr id="4" name="Footer Placeholder 3">
            <a:extLst>
              <a:ext uri="{FF2B5EF4-FFF2-40B4-BE49-F238E27FC236}">
                <a16:creationId xmlns:a16="http://schemas.microsoft.com/office/drawing/2014/main" id="{2763AD35-E770-66B2-E58A-C12308E21740}"/>
              </a:ext>
            </a:extLst>
          </p:cNvPr>
          <p:cNvSpPr>
            <a:spLocks noGrp="1"/>
          </p:cNvSpPr>
          <p:nvPr>
            <p:ph type="ftr" sz="quarter" idx="11"/>
          </p:nvPr>
        </p:nvSpPr>
        <p:spPr/>
        <p:txBody>
          <a:bodyPr/>
          <a:lstStyle/>
          <a:p>
            <a:r>
              <a:rPr lang="en-US" dirty="0"/>
              <a:t>ECE433/533 Boise State University - 2025 - Fady</a:t>
            </a:r>
          </a:p>
        </p:txBody>
      </p:sp>
      <p:pic>
        <p:nvPicPr>
          <p:cNvPr id="6" name="Picture 5">
            <a:extLst>
              <a:ext uri="{FF2B5EF4-FFF2-40B4-BE49-F238E27FC236}">
                <a16:creationId xmlns:a16="http://schemas.microsoft.com/office/drawing/2014/main" id="{33F2785A-F227-ED36-6642-D7B3D7933ACC}"/>
              </a:ext>
            </a:extLst>
          </p:cNvPr>
          <p:cNvPicPr>
            <a:picLocks noChangeAspect="1"/>
          </p:cNvPicPr>
          <p:nvPr/>
        </p:nvPicPr>
        <p:blipFill>
          <a:blip r:embed="rId2"/>
          <a:stretch>
            <a:fillRect/>
          </a:stretch>
        </p:blipFill>
        <p:spPr>
          <a:xfrm>
            <a:off x="6022541" y="12808"/>
            <a:ext cx="5760390" cy="6858000"/>
          </a:xfrm>
          <a:prstGeom prst="rect">
            <a:avLst/>
          </a:prstGeom>
        </p:spPr>
      </p:pic>
    </p:spTree>
    <p:extLst>
      <p:ext uri="{BB962C8B-B14F-4D97-AF65-F5344CB8AC3E}">
        <p14:creationId xmlns:p14="http://schemas.microsoft.com/office/powerpoint/2010/main" val="4281226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F9357-708F-423A-AE27-A8AD5FB8BB14}"/>
              </a:ext>
            </a:extLst>
          </p:cNvPr>
          <p:cNvSpPr>
            <a:spLocks noGrp="1"/>
          </p:cNvSpPr>
          <p:nvPr>
            <p:ph type="title"/>
          </p:nvPr>
        </p:nvSpPr>
        <p:spPr/>
        <p:txBody>
          <a:bodyPr/>
          <a:lstStyle/>
          <a:p>
            <a:r>
              <a:rPr lang="en-US" dirty="0"/>
              <a:t>3- As Frequency Generator</a:t>
            </a:r>
          </a:p>
        </p:txBody>
      </p:sp>
      <p:sp>
        <p:nvSpPr>
          <p:cNvPr id="3" name="Content Placeholder 2">
            <a:extLst>
              <a:ext uri="{FF2B5EF4-FFF2-40B4-BE49-F238E27FC236}">
                <a16:creationId xmlns:a16="http://schemas.microsoft.com/office/drawing/2014/main" id="{E656BA0D-77ED-478C-8CC4-3F5175596BF0}"/>
              </a:ext>
            </a:extLst>
          </p:cNvPr>
          <p:cNvSpPr>
            <a:spLocks noGrp="1"/>
          </p:cNvSpPr>
          <p:nvPr>
            <p:ph idx="1"/>
          </p:nvPr>
        </p:nvSpPr>
        <p:spPr>
          <a:xfrm>
            <a:off x="52616" y="2266442"/>
            <a:ext cx="7719784" cy="3455813"/>
          </a:xfrm>
        </p:spPr>
        <p:txBody>
          <a:bodyPr>
            <a:normAutofit/>
          </a:bodyPr>
          <a:lstStyle/>
          <a:p>
            <a:pPr marL="0" indent="0" algn="l">
              <a:spcBef>
                <a:spcPts val="0"/>
              </a:spcBef>
              <a:buNone/>
            </a:pPr>
            <a:r>
              <a:rPr lang="en-US" sz="1800" dirty="0">
                <a:solidFill>
                  <a:srgbClr val="000000"/>
                </a:solidFill>
                <a:latin typeface="Consolas" panose="020B0609020204030204" pitchFamily="49" charset="0"/>
              </a:rPr>
              <a:t>// Using Toggle on match mode</a:t>
            </a:r>
          </a:p>
          <a:p>
            <a:pPr marL="0" indent="0" algn="l">
              <a:spcBef>
                <a:spcPts val="0"/>
              </a:spcBef>
              <a:buNone/>
            </a:pPr>
            <a:endParaRPr lang="en-US" sz="1800" dirty="0">
              <a:solidFill>
                <a:srgbClr val="000000"/>
              </a:solidFill>
              <a:latin typeface="Consolas" panose="020B0609020204030204" pitchFamily="49" charset="0"/>
            </a:endParaRPr>
          </a:p>
          <a:p>
            <a:pPr marL="0" indent="0" algn="l">
              <a:spcBef>
                <a:spcPts val="0"/>
              </a:spcBef>
              <a:buNone/>
            </a:pPr>
            <a:r>
              <a:rPr lang="en-US" sz="1800" dirty="0">
                <a:solidFill>
                  <a:srgbClr val="000000"/>
                </a:solidFill>
                <a:latin typeface="Consolas" panose="020B0609020204030204" pitchFamily="49" charset="0"/>
              </a:rPr>
              <a:t>RCC-&gt;</a:t>
            </a:r>
            <a:r>
              <a:rPr lang="en-US" sz="1800" dirty="0">
                <a:solidFill>
                  <a:srgbClr val="0000C0"/>
                </a:solidFill>
                <a:latin typeface="Consolas" panose="020B0609020204030204" pitchFamily="49" charset="0"/>
              </a:rPr>
              <a:t>APB1ENR1</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enable TIM2 clock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PSC</a:t>
            </a:r>
            <a:r>
              <a:rPr lang="en-US" sz="1800" dirty="0">
                <a:solidFill>
                  <a:srgbClr val="000000"/>
                </a:solidFill>
                <a:latin typeface="Consolas" panose="020B0609020204030204" pitchFamily="49" charset="0"/>
              </a:rPr>
              <a:t> = 16000 - 1; </a:t>
            </a:r>
            <a:r>
              <a:rPr lang="en-US" sz="1800" dirty="0">
                <a:solidFill>
                  <a:srgbClr val="3F7F5F"/>
                </a:solidFill>
                <a:latin typeface="Consolas" panose="020B0609020204030204" pitchFamily="49" charset="0"/>
              </a:rPr>
              <a:t>/* divided by 16000, for 1ms tick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ARR</a:t>
            </a:r>
            <a:r>
              <a:rPr lang="en-US" sz="1800" dirty="0">
                <a:solidFill>
                  <a:srgbClr val="000000"/>
                </a:solidFill>
                <a:latin typeface="Consolas" panose="020B0609020204030204" pitchFamily="49" charset="0"/>
              </a:rPr>
              <a:t> = 1000 - 1;  </a:t>
            </a:r>
            <a:r>
              <a:rPr lang="en-US" sz="1800" dirty="0">
                <a:solidFill>
                  <a:srgbClr val="3F7F5F"/>
                </a:solidFill>
                <a:latin typeface="Consolas" panose="020B0609020204030204" pitchFamily="49" charset="0"/>
              </a:rPr>
              <a:t>/* divided by 1000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CCMR1</a:t>
            </a:r>
            <a:r>
              <a:rPr lang="en-US" sz="1800" dirty="0">
                <a:solidFill>
                  <a:srgbClr val="000000"/>
                </a:solidFill>
                <a:latin typeface="Consolas" panose="020B0609020204030204" pitchFamily="49" charset="0"/>
              </a:rPr>
              <a:t> = 0x30;    </a:t>
            </a:r>
            <a:r>
              <a:rPr lang="en-US" sz="1800" dirty="0">
                <a:solidFill>
                  <a:srgbClr val="3F7F5F"/>
                </a:solidFill>
                <a:latin typeface="Consolas" panose="020B0609020204030204" pitchFamily="49" charset="0"/>
              </a:rPr>
              <a:t>/* set output to toggle on match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CCR1</a:t>
            </a:r>
            <a:r>
              <a:rPr lang="en-US" sz="1800" dirty="0">
                <a:solidFill>
                  <a:srgbClr val="000000"/>
                </a:solidFill>
                <a:latin typeface="Consolas" panose="020B0609020204030204" pitchFamily="49" charset="0"/>
              </a:rPr>
              <a:t> = 400;      </a:t>
            </a:r>
            <a:r>
              <a:rPr lang="en-US" sz="1800" dirty="0">
                <a:solidFill>
                  <a:srgbClr val="3F7F5F"/>
                </a:solidFill>
                <a:latin typeface="Consolas" panose="020B0609020204030204" pitchFamily="49" charset="0"/>
              </a:rPr>
              <a:t>/* set match value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CCER</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enable CH1 compare mode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CNT</a:t>
            </a:r>
            <a:r>
              <a:rPr lang="en-US" sz="1800" dirty="0">
                <a:solidFill>
                  <a:srgbClr val="000000"/>
                </a:solidFill>
                <a:latin typeface="Consolas" panose="020B0609020204030204" pitchFamily="49" charset="0"/>
              </a:rPr>
              <a:t> = 0;         </a:t>
            </a:r>
            <a:r>
              <a:rPr lang="en-US" sz="1800" dirty="0">
                <a:solidFill>
                  <a:srgbClr val="3F7F5F"/>
                </a:solidFill>
                <a:latin typeface="Consolas" panose="020B0609020204030204" pitchFamily="49" charset="0"/>
              </a:rPr>
              <a:t>/* clear counter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CR1</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enable TIM2 */</a:t>
            </a:r>
            <a:endParaRPr lang="en-US" sz="2400" dirty="0"/>
          </a:p>
        </p:txBody>
      </p:sp>
      <p:sp>
        <p:nvSpPr>
          <p:cNvPr id="4" name="Footer Placeholder 3">
            <a:extLst>
              <a:ext uri="{FF2B5EF4-FFF2-40B4-BE49-F238E27FC236}">
                <a16:creationId xmlns:a16="http://schemas.microsoft.com/office/drawing/2014/main" id="{A984AFE1-98A4-4FC2-9E63-BCF10B3D9A1A}"/>
              </a:ext>
            </a:extLst>
          </p:cNvPr>
          <p:cNvSpPr>
            <a:spLocks noGrp="1"/>
          </p:cNvSpPr>
          <p:nvPr>
            <p:ph type="ftr" sz="quarter" idx="11"/>
          </p:nvPr>
        </p:nvSpPr>
        <p:spPr/>
        <p:txBody>
          <a:bodyPr/>
          <a:lstStyle/>
          <a:p>
            <a:r>
              <a:rPr lang="en-US" dirty="0"/>
              <a:t>ECE433/533 Boise State University - 2025 - Fady</a:t>
            </a:r>
          </a:p>
        </p:txBody>
      </p:sp>
      <p:grpSp>
        <p:nvGrpSpPr>
          <p:cNvPr id="5" name="Group 4">
            <a:extLst>
              <a:ext uri="{FF2B5EF4-FFF2-40B4-BE49-F238E27FC236}">
                <a16:creationId xmlns:a16="http://schemas.microsoft.com/office/drawing/2014/main" id="{EB774E54-B4A3-4FD2-A15D-722D5C3D2FD7}"/>
              </a:ext>
            </a:extLst>
          </p:cNvPr>
          <p:cNvGrpSpPr/>
          <p:nvPr/>
        </p:nvGrpSpPr>
        <p:grpSpPr>
          <a:xfrm>
            <a:off x="6456445" y="302774"/>
            <a:ext cx="5454565" cy="3190875"/>
            <a:chOff x="4289378" y="607698"/>
            <a:chExt cx="3940222" cy="2173443"/>
          </a:xfrm>
        </p:grpSpPr>
        <p:cxnSp>
          <p:nvCxnSpPr>
            <p:cNvPr id="6" name="Straight Connector 5">
              <a:extLst>
                <a:ext uri="{FF2B5EF4-FFF2-40B4-BE49-F238E27FC236}">
                  <a16:creationId xmlns:a16="http://schemas.microsoft.com/office/drawing/2014/main" id="{137E0392-6F54-47AB-B3B4-0A0D479C8053}"/>
                </a:ext>
              </a:extLst>
            </p:cNvPr>
            <p:cNvCxnSpPr>
              <a:cxnSpLocks/>
            </p:cNvCxnSpPr>
            <p:nvPr/>
          </p:nvCxnSpPr>
          <p:spPr>
            <a:xfrm flipH="1" flipV="1">
              <a:off x="4972050" y="1436372"/>
              <a:ext cx="98679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A448378-B3B9-4CC4-8BC7-8CBE87312472}"/>
                </a:ext>
              </a:extLst>
            </p:cNvPr>
            <p:cNvCxnSpPr>
              <a:cxnSpLocks/>
            </p:cNvCxnSpPr>
            <p:nvPr/>
          </p:nvCxnSpPr>
          <p:spPr>
            <a:xfrm flipV="1">
              <a:off x="4977050" y="1437563"/>
              <a:ext cx="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B1989A9-FA1B-4F59-AA71-E4D554E53C0D}"/>
                </a:ext>
              </a:extLst>
            </p:cNvPr>
            <p:cNvCxnSpPr/>
            <p:nvPr/>
          </p:nvCxnSpPr>
          <p:spPr>
            <a:xfrm>
              <a:off x="4819650" y="2392680"/>
              <a:ext cx="340995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5D32486D-2AB8-40E6-9EFC-8212477B101F}"/>
                </a:ext>
              </a:extLst>
            </p:cNvPr>
            <p:cNvCxnSpPr>
              <a:cxnSpLocks/>
            </p:cNvCxnSpPr>
            <p:nvPr/>
          </p:nvCxnSpPr>
          <p:spPr>
            <a:xfrm flipV="1">
              <a:off x="4972050" y="1027906"/>
              <a:ext cx="0" cy="151717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B54C688C-7EE6-4929-A433-012FD378B213}"/>
                </a:ext>
              </a:extLst>
            </p:cNvPr>
            <p:cNvCxnSpPr>
              <a:cxnSpLocks/>
            </p:cNvCxnSpPr>
            <p:nvPr/>
          </p:nvCxnSpPr>
          <p:spPr>
            <a:xfrm flipH="1" flipV="1">
              <a:off x="5954752" y="1435182"/>
              <a:ext cx="98679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919689F-3E10-4748-B221-234CED9A236F}"/>
                </a:ext>
              </a:extLst>
            </p:cNvPr>
            <p:cNvCxnSpPr>
              <a:cxnSpLocks/>
            </p:cNvCxnSpPr>
            <p:nvPr/>
          </p:nvCxnSpPr>
          <p:spPr>
            <a:xfrm flipV="1">
              <a:off x="5959752" y="1436373"/>
              <a:ext cx="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50CBD7-684C-45E1-AD9B-912464D7ACF0}"/>
                </a:ext>
              </a:extLst>
            </p:cNvPr>
            <p:cNvCxnSpPr>
              <a:cxnSpLocks/>
            </p:cNvCxnSpPr>
            <p:nvPr/>
          </p:nvCxnSpPr>
          <p:spPr>
            <a:xfrm flipH="1" flipV="1">
              <a:off x="6931541" y="1432801"/>
              <a:ext cx="98679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3B89C6A-F9BF-45DF-B73D-8D305BF34DA2}"/>
                </a:ext>
              </a:extLst>
            </p:cNvPr>
            <p:cNvCxnSpPr>
              <a:cxnSpLocks/>
            </p:cNvCxnSpPr>
            <p:nvPr/>
          </p:nvCxnSpPr>
          <p:spPr>
            <a:xfrm flipV="1">
              <a:off x="6936541" y="1433992"/>
              <a:ext cx="0" cy="95630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5B43847-CA6C-4989-9E59-8F049B99CB59}"/>
                </a:ext>
              </a:extLst>
            </p:cNvPr>
            <p:cNvSpPr txBox="1"/>
            <p:nvPr/>
          </p:nvSpPr>
          <p:spPr>
            <a:xfrm rot="16200000">
              <a:off x="4663078" y="1859101"/>
              <a:ext cx="257701" cy="172273"/>
            </a:xfrm>
            <a:prstGeom prst="rect">
              <a:avLst/>
            </a:prstGeom>
            <a:noFill/>
            <a:ln w="19050">
              <a:noFill/>
            </a:ln>
          </p:spPr>
          <p:txBody>
            <a:bodyPr wrap="none" rtlCol="0">
              <a:spAutoFit/>
            </a:bodyPr>
            <a:lstStyle/>
            <a:p>
              <a:r>
                <a:rPr lang="en-US" dirty="0"/>
                <a:t>CNT</a:t>
              </a:r>
            </a:p>
          </p:txBody>
        </p:sp>
        <p:cxnSp>
          <p:nvCxnSpPr>
            <p:cNvPr id="15" name="Straight Arrow Connector 14">
              <a:extLst>
                <a:ext uri="{FF2B5EF4-FFF2-40B4-BE49-F238E27FC236}">
                  <a16:creationId xmlns:a16="http://schemas.microsoft.com/office/drawing/2014/main" id="{8A1EBE23-77E6-4E47-9AA8-450370F6BB37}"/>
                </a:ext>
              </a:extLst>
            </p:cNvPr>
            <p:cNvCxnSpPr>
              <a:cxnSpLocks/>
            </p:cNvCxnSpPr>
            <p:nvPr/>
          </p:nvCxnSpPr>
          <p:spPr>
            <a:xfrm>
              <a:off x="4626769" y="1452563"/>
              <a:ext cx="29051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3E05988-CE4E-4286-8EA2-5A5510F98C84}"/>
                </a:ext>
              </a:extLst>
            </p:cNvPr>
            <p:cNvSpPr txBox="1"/>
            <p:nvPr/>
          </p:nvSpPr>
          <p:spPr>
            <a:xfrm>
              <a:off x="4289378" y="1356187"/>
              <a:ext cx="246147" cy="153228"/>
            </a:xfrm>
            <a:prstGeom prst="rect">
              <a:avLst/>
            </a:prstGeom>
            <a:noFill/>
            <a:ln w="19050">
              <a:noFill/>
            </a:ln>
          </p:spPr>
          <p:txBody>
            <a:bodyPr wrap="none" rtlCol="0">
              <a:spAutoFit/>
            </a:bodyPr>
            <a:lstStyle/>
            <a:p>
              <a:r>
                <a:rPr lang="en-US" sz="1600" dirty="0"/>
                <a:t>ARR</a:t>
              </a:r>
              <a:endParaRPr lang="en-US" sz="1100" dirty="0"/>
            </a:p>
          </p:txBody>
        </p:sp>
        <p:sp>
          <p:nvSpPr>
            <p:cNvPr id="17" name="TextBox 16">
              <a:extLst>
                <a:ext uri="{FF2B5EF4-FFF2-40B4-BE49-F238E27FC236}">
                  <a16:creationId xmlns:a16="http://schemas.microsoft.com/office/drawing/2014/main" id="{B3AC80F9-A995-4B0A-BB4A-0553B6ED8CDC}"/>
                </a:ext>
              </a:extLst>
            </p:cNvPr>
            <p:cNvSpPr txBox="1"/>
            <p:nvPr/>
          </p:nvSpPr>
          <p:spPr>
            <a:xfrm>
              <a:off x="5974073" y="607698"/>
              <a:ext cx="314937" cy="153228"/>
            </a:xfrm>
            <a:prstGeom prst="rect">
              <a:avLst/>
            </a:prstGeom>
            <a:noFill/>
            <a:ln w="19050">
              <a:noFill/>
            </a:ln>
          </p:spPr>
          <p:txBody>
            <a:bodyPr wrap="none" rtlCol="0">
              <a:spAutoFit/>
            </a:bodyPr>
            <a:lstStyle/>
            <a:p>
              <a:r>
                <a:rPr lang="en-US" sz="1600" b="1" dirty="0"/>
                <a:t>UIF=1</a:t>
              </a:r>
            </a:p>
          </p:txBody>
        </p:sp>
        <p:cxnSp>
          <p:nvCxnSpPr>
            <p:cNvPr id="18" name="Straight Arrow Connector 17">
              <a:extLst>
                <a:ext uri="{FF2B5EF4-FFF2-40B4-BE49-F238E27FC236}">
                  <a16:creationId xmlns:a16="http://schemas.microsoft.com/office/drawing/2014/main" id="{29A1E7C4-3A3E-436A-88CE-5CE4EAEE0636}"/>
                </a:ext>
              </a:extLst>
            </p:cNvPr>
            <p:cNvCxnSpPr>
              <a:stCxn id="17" idx="2"/>
            </p:cNvCxnSpPr>
            <p:nvPr/>
          </p:nvCxnSpPr>
          <p:spPr>
            <a:xfrm flipH="1">
              <a:off x="6019800" y="760926"/>
              <a:ext cx="111741" cy="627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BB9CB56-588E-4EFF-BFB0-1C5C86D10F6B}"/>
                </a:ext>
              </a:extLst>
            </p:cNvPr>
            <p:cNvCxnSpPr>
              <a:cxnSpLocks/>
              <a:stCxn id="17" idx="2"/>
            </p:cNvCxnSpPr>
            <p:nvPr/>
          </p:nvCxnSpPr>
          <p:spPr>
            <a:xfrm>
              <a:off x="6131542" y="760926"/>
              <a:ext cx="794998" cy="60673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3DA6C95-DE64-43FF-A1A4-16A97FBB5B52}"/>
                </a:ext>
              </a:extLst>
            </p:cNvPr>
            <p:cNvSpPr txBox="1"/>
            <p:nvPr/>
          </p:nvSpPr>
          <p:spPr>
            <a:xfrm>
              <a:off x="6044106" y="2411809"/>
              <a:ext cx="649537" cy="369332"/>
            </a:xfrm>
            <a:prstGeom prst="rect">
              <a:avLst/>
            </a:prstGeom>
            <a:noFill/>
            <a:ln w="19050">
              <a:noFill/>
            </a:ln>
          </p:spPr>
          <p:txBody>
            <a:bodyPr wrap="none" rtlCol="0">
              <a:spAutoFit/>
            </a:bodyPr>
            <a:lstStyle/>
            <a:p>
              <a:r>
                <a:rPr lang="en-US" dirty="0"/>
                <a:t>Time</a:t>
              </a:r>
            </a:p>
          </p:txBody>
        </p:sp>
      </p:grpSp>
      <p:cxnSp>
        <p:nvCxnSpPr>
          <p:cNvPr id="23" name="Straight Arrow Connector 22">
            <a:extLst>
              <a:ext uri="{FF2B5EF4-FFF2-40B4-BE49-F238E27FC236}">
                <a16:creationId xmlns:a16="http://schemas.microsoft.com/office/drawing/2014/main" id="{9B1EA1C0-C61B-4AA9-AD1E-B77C6987E8BE}"/>
              </a:ext>
            </a:extLst>
          </p:cNvPr>
          <p:cNvCxnSpPr>
            <a:cxnSpLocks/>
          </p:cNvCxnSpPr>
          <p:nvPr/>
        </p:nvCxnSpPr>
        <p:spPr>
          <a:xfrm>
            <a:off x="6955983" y="2400387"/>
            <a:ext cx="40216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2C0EC0E-1DAB-4F0D-9C49-05EAA6FE8A0E}"/>
              </a:ext>
            </a:extLst>
          </p:cNvPr>
          <p:cNvSpPr txBox="1"/>
          <p:nvPr/>
        </p:nvSpPr>
        <p:spPr>
          <a:xfrm>
            <a:off x="6456445" y="2230654"/>
            <a:ext cx="619080" cy="338554"/>
          </a:xfrm>
          <a:prstGeom prst="rect">
            <a:avLst/>
          </a:prstGeom>
          <a:noFill/>
          <a:ln w="19050">
            <a:noFill/>
          </a:ln>
        </p:spPr>
        <p:txBody>
          <a:bodyPr wrap="none" rtlCol="0">
            <a:spAutoFit/>
          </a:bodyPr>
          <a:lstStyle/>
          <a:p>
            <a:r>
              <a:rPr lang="en-US" sz="1600" dirty="0"/>
              <a:t>CCR1</a:t>
            </a:r>
            <a:endParaRPr lang="en-US" sz="1100" dirty="0"/>
          </a:p>
        </p:txBody>
      </p:sp>
      <p:cxnSp>
        <p:nvCxnSpPr>
          <p:cNvPr id="25" name="Straight Connector 24">
            <a:extLst>
              <a:ext uri="{FF2B5EF4-FFF2-40B4-BE49-F238E27FC236}">
                <a16:creationId xmlns:a16="http://schemas.microsoft.com/office/drawing/2014/main" id="{89F4836A-03EE-42EA-8874-194BFFE96A27}"/>
              </a:ext>
            </a:extLst>
          </p:cNvPr>
          <p:cNvCxnSpPr/>
          <p:nvPr/>
        </p:nvCxnSpPr>
        <p:spPr>
          <a:xfrm>
            <a:off x="7408410" y="2400387"/>
            <a:ext cx="44073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60B38D3-6BFB-41E4-AE48-FE707E3426B8}"/>
              </a:ext>
            </a:extLst>
          </p:cNvPr>
          <p:cNvCxnSpPr>
            <a:cxnSpLocks/>
          </p:cNvCxnSpPr>
          <p:nvPr/>
        </p:nvCxnSpPr>
        <p:spPr>
          <a:xfrm>
            <a:off x="7190516" y="4033005"/>
            <a:ext cx="472049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9E7C4A25-EE07-46CA-B400-A5381BFFFFC8}"/>
              </a:ext>
            </a:extLst>
          </p:cNvPr>
          <p:cNvCxnSpPr>
            <a:cxnSpLocks/>
          </p:cNvCxnSpPr>
          <p:nvPr/>
        </p:nvCxnSpPr>
        <p:spPr>
          <a:xfrm flipV="1">
            <a:off x="7401488" y="3314701"/>
            <a:ext cx="0" cy="94204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CAA65060-96CA-49E5-A0D1-F4AA4E4DAF16}"/>
              </a:ext>
            </a:extLst>
          </p:cNvPr>
          <p:cNvCxnSpPr/>
          <p:nvPr/>
        </p:nvCxnSpPr>
        <p:spPr>
          <a:xfrm>
            <a:off x="7401488" y="3690938"/>
            <a:ext cx="9567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34" name="Straight Connector 33">
            <a:extLst>
              <a:ext uri="{FF2B5EF4-FFF2-40B4-BE49-F238E27FC236}">
                <a16:creationId xmlns:a16="http://schemas.microsoft.com/office/drawing/2014/main" id="{C197AD24-149E-4C6D-8F4F-BB6DC44A32A6}"/>
              </a:ext>
            </a:extLst>
          </p:cNvPr>
          <p:cNvCxnSpPr>
            <a:cxnSpLocks/>
          </p:cNvCxnSpPr>
          <p:nvPr/>
        </p:nvCxnSpPr>
        <p:spPr>
          <a:xfrm flipV="1">
            <a:off x="8358188" y="3692487"/>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39" name="Straight Connector 38">
            <a:extLst>
              <a:ext uri="{FF2B5EF4-FFF2-40B4-BE49-F238E27FC236}">
                <a16:creationId xmlns:a16="http://schemas.microsoft.com/office/drawing/2014/main" id="{44098352-B8F1-4DDB-BAC9-2FCB61C580F4}"/>
              </a:ext>
            </a:extLst>
          </p:cNvPr>
          <p:cNvCxnSpPr>
            <a:cxnSpLocks/>
          </p:cNvCxnSpPr>
          <p:nvPr/>
        </p:nvCxnSpPr>
        <p:spPr>
          <a:xfrm flipV="1">
            <a:off x="9663104" y="3692487"/>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42" name="Straight Connector 41">
            <a:extLst>
              <a:ext uri="{FF2B5EF4-FFF2-40B4-BE49-F238E27FC236}">
                <a16:creationId xmlns:a16="http://schemas.microsoft.com/office/drawing/2014/main" id="{0255CBCC-E708-420F-8868-50EF99947CEE}"/>
              </a:ext>
            </a:extLst>
          </p:cNvPr>
          <p:cNvCxnSpPr>
            <a:cxnSpLocks/>
          </p:cNvCxnSpPr>
          <p:nvPr/>
        </p:nvCxnSpPr>
        <p:spPr>
          <a:xfrm>
            <a:off x="9663104" y="3690938"/>
            <a:ext cx="140282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44" name="Straight Connector 43">
            <a:extLst>
              <a:ext uri="{FF2B5EF4-FFF2-40B4-BE49-F238E27FC236}">
                <a16:creationId xmlns:a16="http://schemas.microsoft.com/office/drawing/2014/main" id="{5ACB72A4-D394-4C48-8C0C-7F1B95335F78}"/>
              </a:ext>
            </a:extLst>
          </p:cNvPr>
          <p:cNvCxnSpPr>
            <a:cxnSpLocks/>
          </p:cNvCxnSpPr>
          <p:nvPr/>
        </p:nvCxnSpPr>
        <p:spPr>
          <a:xfrm flipV="1">
            <a:off x="11081270" y="3690938"/>
            <a:ext cx="0" cy="340518"/>
          </a:xfrm>
          <a:prstGeom prst="line">
            <a:avLst/>
          </a:prstGeom>
        </p:spPr>
        <p:style>
          <a:lnRef idx="3">
            <a:schemeClr val="accent2"/>
          </a:lnRef>
          <a:fillRef idx="0">
            <a:schemeClr val="accent2"/>
          </a:fillRef>
          <a:effectRef idx="2">
            <a:schemeClr val="accent2"/>
          </a:effectRef>
          <a:fontRef idx="minor">
            <a:schemeClr val="tx1"/>
          </a:fontRef>
        </p:style>
      </p:cxnSp>
      <p:sp>
        <p:nvSpPr>
          <p:cNvPr id="45" name="TextBox 44">
            <a:extLst>
              <a:ext uri="{FF2B5EF4-FFF2-40B4-BE49-F238E27FC236}">
                <a16:creationId xmlns:a16="http://schemas.microsoft.com/office/drawing/2014/main" id="{B38AA3C0-78BB-418E-924D-831F4BE84376}"/>
              </a:ext>
            </a:extLst>
          </p:cNvPr>
          <p:cNvSpPr txBox="1"/>
          <p:nvPr/>
        </p:nvSpPr>
        <p:spPr>
          <a:xfrm>
            <a:off x="8233834" y="4332155"/>
            <a:ext cx="3471552" cy="646331"/>
          </a:xfrm>
          <a:prstGeom prst="rect">
            <a:avLst/>
          </a:prstGeom>
          <a:noFill/>
        </p:spPr>
        <p:txBody>
          <a:bodyPr wrap="square" rtlCol="0">
            <a:spAutoFit/>
          </a:bodyPr>
          <a:lstStyle/>
          <a:p>
            <a:r>
              <a:rPr lang="en-US" dirty="0"/>
              <a:t>Freq is controlled by ARR and PSC</a:t>
            </a:r>
          </a:p>
          <a:p>
            <a:r>
              <a:rPr lang="en-US" dirty="0"/>
              <a:t>Phase is controlled by CCR1</a:t>
            </a:r>
          </a:p>
        </p:txBody>
      </p:sp>
      <p:pic>
        <p:nvPicPr>
          <p:cNvPr id="47" name="Picture 46">
            <a:extLst>
              <a:ext uri="{FF2B5EF4-FFF2-40B4-BE49-F238E27FC236}">
                <a16:creationId xmlns:a16="http://schemas.microsoft.com/office/drawing/2014/main" id="{90283A7E-39D3-426B-A92E-366234777013}"/>
              </a:ext>
            </a:extLst>
          </p:cNvPr>
          <p:cNvPicPr>
            <a:picLocks noChangeAspect="1"/>
          </p:cNvPicPr>
          <p:nvPr/>
        </p:nvPicPr>
        <p:blipFill>
          <a:blip r:embed="rId2"/>
          <a:stretch>
            <a:fillRect/>
          </a:stretch>
        </p:blipFill>
        <p:spPr>
          <a:xfrm>
            <a:off x="8761871" y="5142673"/>
            <a:ext cx="2267726" cy="1548079"/>
          </a:xfrm>
          <a:prstGeom prst="rect">
            <a:avLst/>
          </a:prstGeom>
        </p:spPr>
      </p:pic>
    </p:spTree>
    <p:extLst>
      <p:ext uri="{BB962C8B-B14F-4D97-AF65-F5344CB8AC3E}">
        <p14:creationId xmlns:p14="http://schemas.microsoft.com/office/powerpoint/2010/main" val="273243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4577-05AA-4270-8452-98D62A4CB89B}"/>
              </a:ext>
            </a:extLst>
          </p:cNvPr>
          <p:cNvSpPr>
            <a:spLocks noGrp="1"/>
          </p:cNvSpPr>
          <p:nvPr>
            <p:ph type="title"/>
          </p:nvPr>
        </p:nvSpPr>
        <p:spPr/>
        <p:txBody>
          <a:bodyPr/>
          <a:lstStyle/>
          <a:p>
            <a:r>
              <a:rPr lang="en-US" dirty="0"/>
              <a:t>Pulse Width Modulation</a:t>
            </a:r>
          </a:p>
        </p:txBody>
      </p:sp>
      <p:sp>
        <p:nvSpPr>
          <p:cNvPr id="3" name="Content Placeholder 2">
            <a:extLst>
              <a:ext uri="{FF2B5EF4-FFF2-40B4-BE49-F238E27FC236}">
                <a16:creationId xmlns:a16="http://schemas.microsoft.com/office/drawing/2014/main" id="{8A1B2086-E617-43A6-B921-21CB2764198C}"/>
              </a:ext>
            </a:extLst>
          </p:cNvPr>
          <p:cNvSpPr>
            <a:spLocks noGrp="1"/>
          </p:cNvSpPr>
          <p:nvPr>
            <p:ph idx="1"/>
          </p:nvPr>
        </p:nvSpPr>
        <p:spPr/>
        <p:txBody>
          <a:bodyPr/>
          <a:lstStyle/>
          <a:p>
            <a:r>
              <a:rPr lang="en-US" dirty="0"/>
              <a:t>Pulse-width modulation (PWM), or pulse-duration modulation (PDM), is a method of reducing the average power delivered by an electrical signal, by effectively chopping it up into discrete parts. The average value of voltage (and current) fed to the load is controlled by turning the switch between supply and load on and off at a fast rate. (</a:t>
            </a:r>
            <a:r>
              <a:rPr lang="en-US" b="1" i="1" dirty="0"/>
              <a:t>Wiki</a:t>
            </a:r>
            <a:r>
              <a:rPr lang="en-US" dirty="0"/>
              <a:t>)</a:t>
            </a:r>
          </a:p>
        </p:txBody>
      </p:sp>
      <p:sp>
        <p:nvSpPr>
          <p:cNvPr id="4" name="Footer Placeholder 3">
            <a:extLst>
              <a:ext uri="{FF2B5EF4-FFF2-40B4-BE49-F238E27FC236}">
                <a16:creationId xmlns:a16="http://schemas.microsoft.com/office/drawing/2014/main" id="{70DE0593-77C9-456F-99E4-9942F7E64749}"/>
              </a:ext>
            </a:extLst>
          </p:cNvPr>
          <p:cNvSpPr>
            <a:spLocks noGrp="1"/>
          </p:cNvSpPr>
          <p:nvPr>
            <p:ph type="ftr" sz="quarter" idx="11"/>
          </p:nvPr>
        </p:nvSpPr>
        <p:spPr/>
        <p:txBody>
          <a:bodyPr/>
          <a:lstStyle/>
          <a:p>
            <a:r>
              <a:rPr lang="en-US" dirty="0"/>
              <a:t>ECE433/533 Boise State University - 2025 - Fady</a:t>
            </a:r>
          </a:p>
        </p:txBody>
      </p:sp>
      <p:pic>
        <p:nvPicPr>
          <p:cNvPr id="5" name="Picture 2" descr="PWM">
            <a:extLst>
              <a:ext uri="{FF2B5EF4-FFF2-40B4-BE49-F238E27FC236}">
                <a16:creationId xmlns:a16="http://schemas.microsoft.com/office/drawing/2014/main" id="{1EDD0976-2493-46B7-90E5-1E2C6B7F1D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4278" y="4001294"/>
            <a:ext cx="6835577" cy="2776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825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F9357-708F-423A-AE27-A8AD5FB8BB14}"/>
              </a:ext>
            </a:extLst>
          </p:cNvPr>
          <p:cNvSpPr>
            <a:spLocks noGrp="1"/>
          </p:cNvSpPr>
          <p:nvPr>
            <p:ph type="title"/>
          </p:nvPr>
        </p:nvSpPr>
        <p:spPr/>
        <p:txBody>
          <a:bodyPr/>
          <a:lstStyle/>
          <a:p>
            <a:r>
              <a:rPr lang="en-US" dirty="0"/>
              <a:t>4- PWM  - Edge aligned</a:t>
            </a:r>
          </a:p>
        </p:txBody>
      </p:sp>
      <p:sp>
        <p:nvSpPr>
          <p:cNvPr id="3" name="Content Placeholder 2">
            <a:extLst>
              <a:ext uri="{FF2B5EF4-FFF2-40B4-BE49-F238E27FC236}">
                <a16:creationId xmlns:a16="http://schemas.microsoft.com/office/drawing/2014/main" id="{E656BA0D-77ED-478C-8CC4-3F5175596BF0}"/>
              </a:ext>
            </a:extLst>
          </p:cNvPr>
          <p:cNvSpPr>
            <a:spLocks noGrp="1"/>
          </p:cNvSpPr>
          <p:nvPr>
            <p:ph idx="1"/>
          </p:nvPr>
        </p:nvSpPr>
        <p:spPr>
          <a:xfrm>
            <a:off x="52616" y="2266442"/>
            <a:ext cx="7719784" cy="3455813"/>
          </a:xfrm>
        </p:spPr>
        <p:txBody>
          <a:bodyPr>
            <a:normAutofit/>
          </a:bodyPr>
          <a:lstStyle/>
          <a:p>
            <a:pPr marL="0" indent="0" algn="l">
              <a:spcBef>
                <a:spcPts val="0"/>
              </a:spcBef>
              <a:buNone/>
            </a:pPr>
            <a:r>
              <a:rPr lang="en-US" sz="1800" dirty="0">
                <a:solidFill>
                  <a:srgbClr val="3F7F5F"/>
                </a:solidFill>
                <a:latin typeface="Consolas" panose="020B0609020204030204" pitchFamily="49" charset="0"/>
              </a:rPr>
              <a:t>// Use Case 2: PWM mode 1</a:t>
            </a:r>
          </a:p>
          <a:p>
            <a:pPr marL="0" indent="0" algn="l">
              <a:spcBef>
                <a:spcPts val="0"/>
              </a:spcBef>
              <a:buNone/>
            </a:pPr>
            <a:r>
              <a:rPr lang="en-US" sz="1800" dirty="0">
                <a:solidFill>
                  <a:srgbClr val="000000"/>
                </a:solidFill>
                <a:latin typeface="Consolas" panose="020B0609020204030204" pitchFamily="49" charset="0"/>
              </a:rPr>
              <a:t>RCC-&gt;</a:t>
            </a:r>
            <a:r>
              <a:rPr lang="en-US" sz="1800" dirty="0">
                <a:solidFill>
                  <a:srgbClr val="0000C0"/>
                </a:solidFill>
                <a:latin typeface="Consolas" panose="020B0609020204030204" pitchFamily="49" charset="0"/>
              </a:rPr>
              <a:t>APB1ENR1</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enable TIM2 clock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PSC</a:t>
            </a:r>
            <a:r>
              <a:rPr lang="en-US" sz="1800" dirty="0">
                <a:solidFill>
                  <a:srgbClr val="000000"/>
                </a:solidFill>
                <a:latin typeface="Consolas" panose="020B0609020204030204" pitchFamily="49" charset="0"/>
              </a:rPr>
              <a:t> = 16000 - 1;  </a:t>
            </a:r>
            <a:r>
              <a:rPr lang="en-US" sz="1800" dirty="0">
                <a:solidFill>
                  <a:srgbClr val="3F7F5F"/>
                </a:solidFill>
                <a:latin typeface="Consolas" panose="020B0609020204030204" pitchFamily="49" charset="0"/>
              </a:rPr>
              <a:t>// divided by 16000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ARR</a:t>
            </a:r>
            <a:r>
              <a:rPr lang="en-US" sz="1800" dirty="0">
                <a:solidFill>
                  <a:srgbClr val="000000"/>
                </a:solidFill>
                <a:latin typeface="Consolas" panose="020B0609020204030204" pitchFamily="49" charset="0"/>
              </a:rPr>
              <a:t> = 1000 - 1;   </a:t>
            </a:r>
            <a:r>
              <a:rPr lang="en-US" sz="1800" dirty="0">
                <a:solidFill>
                  <a:srgbClr val="3F7F5F"/>
                </a:solidFill>
                <a:latin typeface="Consolas" panose="020B0609020204030204" pitchFamily="49" charset="0"/>
              </a:rPr>
              <a:t>// divided by 1000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CCMR1</a:t>
            </a:r>
            <a:r>
              <a:rPr lang="en-US" sz="1800" dirty="0">
                <a:solidFill>
                  <a:srgbClr val="000000"/>
                </a:solidFill>
                <a:latin typeface="Consolas" panose="020B0609020204030204" pitchFamily="49" charset="0"/>
              </a:rPr>
              <a:t> = 0x60;  </a:t>
            </a:r>
            <a:r>
              <a:rPr lang="en-US" sz="1800" dirty="0">
                <a:solidFill>
                  <a:srgbClr val="3F7F5F"/>
                </a:solidFill>
                <a:latin typeface="Consolas" panose="020B0609020204030204" pitchFamily="49" charset="0"/>
              </a:rPr>
              <a:t>// PWM, High if CNT&lt;CCR1 if count down </a:t>
            </a:r>
          </a:p>
          <a:p>
            <a:pPr marL="0" indent="0" algn="l">
              <a:spcBef>
                <a:spcPts val="0"/>
              </a:spcBef>
              <a:buNone/>
            </a:pPr>
            <a:r>
              <a:rPr lang="en-US" sz="1800" dirty="0">
                <a:solidFill>
                  <a:srgbClr val="000000"/>
                </a:solidFill>
                <a:latin typeface="Consolas" panose="020B0609020204030204" pitchFamily="49" charset="0"/>
              </a:rPr>
              <a:t>                     </a:t>
            </a:r>
            <a:r>
              <a:rPr lang="en-US" sz="1800" dirty="0">
                <a:solidFill>
                  <a:srgbClr val="3F7F5F"/>
                </a:solidFill>
                <a:latin typeface="Consolas" panose="020B0609020204030204" pitchFamily="49" charset="0"/>
              </a:rPr>
              <a:t>//         or if CNT&gt;CCR1 if count up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CCR1</a:t>
            </a:r>
            <a:r>
              <a:rPr lang="en-US" sz="1800" dirty="0">
                <a:solidFill>
                  <a:srgbClr val="000000"/>
                </a:solidFill>
                <a:latin typeface="Consolas" panose="020B0609020204030204" pitchFamily="49" charset="0"/>
              </a:rPr>
              <a:t> = 900;    </a:t>
            </a:r>
            <a:r>
              <a:rPr lang="en-US" sz="1800" dirty="0">
                <a:solidFill>
                  <a:srgbClr val="3F7F5F"/>
                </a:solidFill>
                <a:latin typeface="Consolas" panose="020B0609020204030204" pitchFamily="49" charset="0"/>
              </a:rPr>
              <a:t>// set match value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CCER</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enable CH1 compare mode</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CNT</a:t>
            </a:r>
            <a:r>
              <a:rPr lang="en-US" sz="1800" dirty="0">
                <a:solidFill>
                  <a:srgbClr val="000000"/>
                </a:solidFill>
                <a:latin typeface="Consolas" panose="020B0609020204030204" pitchFamily="49" charset="0"/>
              </a:rPr>
              <a:t> = 0;       </a:t>
            </a:r>
            <a:r>
              <a:rPr lang="en-US" sz="1800" dirty="0">
                <a:solidFill>
                  <a:srgbClr val="3F7F5F"/>
                </a:solidFill>
                <a:latin typeface="Consolas" panose="020B0609020204030204" pitchFamily="49" charset="0"/>
              </a:rPr>
              <a:t>// clear counter</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CR1</a:t>
            </a:r>
            <a:r>
              <a:rPr lang="en-US" sz="1800" dirty="0">
                <a:solidFill>
                  <a:srgbClr val="000000"/>
                </a:solidFill>
                <a:latin typeface="Consolas" panose="020B0609020204030204" pitchFamily="49" charset="0"/>
              </a:rPr>
              <a:t> = 0x11;    </a:t>
            </a:r>
            <a:r>
              <a:rPr lang="en-US" sz="1800" dirty="0">
                <a:solidFill>
                  <a:srgbClr val="3F7F5F"/>
                </a:solidFill>
                <a:latin typeface="Consolas" panose="020B0609020204030204" pitchFamily="49" charset="0"/>
              </a:rPr>
              <a:t>// enable TIM2 , count down</a:t>
            </a:r>
            <a:endParaRPr lang="en-US" sz="2400" dirty="0"/>
          </a:p>
        </p:txBody>
      </p:sp>
      <p:sp>
        <p:nvSpPr>
          <p:cNvPr id="4" name="Footer Placeholder 3">
            <a:extLst>
              <a:ext uri="{FF2B5EF4-FFF2-40B4-BE49-F238E27FC236}">
                <a16:creationId xmlns:a16="http://schemas.microsoft.com/office/drawing/2014/main" id="{A984AFE1-98A4-4FC2-9E63-BCF10B3D9A1A}"/>
              </a:ext>
            </a:extLst>
          </p:cNvPr>
          <p:cNvSpPr>
            <a:spLocks noGrp="1"/>
          </p:cNvSpPr>
          <p:nvPr>
            <p:ph type="ftr" sz="quarter" idx="11"/>
          </p:nvPr>
        </p:nvSpPr>
        <p:spPr/>
        <p:txBody>
          <a:bodyPr/>
          <a:lstStyle/>
          <a:p>
            <a:r>
              <a:rPr lang="en-US" dirty="0"/>
              <a:t>ECE433/533 Boise State University - 2025 - Fady</a:t>
            </a:r>
          </a:p>
        </p:txBody>
      </p:sp>
      <p:grpSp>
        <p:nvGrpSpPr>
          <p:cNvPr id="5" name="Group 4">
            <a:extLst>
              <a:ext uri="{FF2B5EF4-FFF2-40B4-BE49-F238E27FC236}">
                <a16:creationId xmlns:a16="http://schemas.microsoft.com/office/drawing/2014/main" id="{EB774E54-B4A3-4FD2-A15D-722D5C3D2FD7}"/>
              </a:ext>
            </a:extLst>
          </p:cNvPr>
          <p:cNvGrpSpPr/>
          <p:nvPr/>
        </p:nvGrpSpPr>
        <p:grpSpPr>
          <a:xfrm>
            <a:off x="6456445" y="302774"/>
            <a:ext cx="5454565" cy="3190875"/>
            <a:chOff x="4289378" y="607698"/>
            <a:chExt cx="3940222" cy="2173443"/>
          </a:xfrm>
        </p:grpSpPr>
        <p:cxnSp>
          <p:nvCxnSpPr>
            <p:cNvPr id="6" name="Straight Connector 5">
              <a:extLst>
                <a:ext uri="{FF2B5EF4-FFF2-40B4-BE49-F238E27FC236}">
                  <a16:creationId xmlns:a16="http://schemas.microsoft.com/office/drawing/2014/main" id="{137E0392-6F54-47AB-B3B4-0A0D479C8053}"/>
                </a:ext>
              </a:extLst>
            </p:cNvPr>
            <p:cNvCxnSpPr>
              <a:cxnSpLocks/>
            </p:cNvCxnSpPr>
            <p:nvPr/>
          </p:nvCxnSpPr>
          <p:spPr>
            <a:xfrm flipH="1" flipV="1">
              <a:off x="4972050" y="1436372"/>
              <a:ext cx="98679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A448378-B3B9-4CC4-8BC7-8CBE87312472}"/>
                </a:ext>
              </a:extLst>
            </p:cNvPr>
            <p:cNvCxnSpPr>
              <a:cxnSpLocks/>
            </p:cNvCxnSpPr>
            <p:nvPr/>
          </p:nvCxnSpPr>
          <p:spPr>
            <a:xfrm flipV="1">
              <a:off x="4977050" y="1437563"/>
              <a:ext cx="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B1989A9-FA1B-4F59-AA71-E4D554E53C0D}"/>
                </a:ext>
              </a:extLst>
            </p:cNvPr>
            <p:cNvCxnSpPr/>
            <p:nvPr/>
          </p:nvCxnSpPr>
          <p:spPr>
            <a:xfrm>
              <a:off x="4819650" y="2392680"/>
              <a:ext cx="340995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5D32486D-2AB8-40E6-9EFC-8212477B101F}"/>
                </a:ext>
              </a:extLst>
            </p:cNvPr>
            <p:cNvCxnSpPr>
              <a:cxnSpLocks/>
            </p:cNvCxnSpPr>
            <p:nvPr/>
          </p:nvCxnSpPr>
          <p:spPr>
            <a:xfrm flipV="1">
              <a:off x="4972050" y="1027906"/>
              <a:ext cx="0" cy="151717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B54C688C-7EE6-4929-A433-012FD378B213}"/>
                </a:ext>
              </a:extLst>
            </p:cNvPr>
            <p:cNvCxnSpPr>
              <a:cxnSpLocks/>
            </p:cNvCxnSpPr>
            <p:nvPr/>
          </p:nvCxnSpPr>
          <p:spPr>
            <a:xfrm flipH="1" flipV="1">
              <a:off x="5954752" y="1435182"/>
              <a:ext cx="98679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919689F-3E10-4748-B221-234CED9A236F}"/>
                </a:ext>
              </a:extLst>
            </p:cNvPr>
            <p:cNvCxnSpPr>
              <a:cxnSpLocks/>
            </p:cNvCxnSpPr>
            <p:nvPr/>
          </p:nvCxnSpPr>
          <p:spPr>
            <a:xfrm flipV="1">
              <a:off x="5959752" y="1436373"/>
              <a:ext cx="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50CBD7-684C-45E1-AD9B-912464D7ACF0}"/>
                </a:ext>
              </a:extLst>
            </p:cNvPr>
            <p:cNvCxnSpPr>
              <a:cxnSpLocks/>
            </p:cNvCxnSpPr>
            <p:nvPr/>
          </p:nvCxnSpPr>
          <p:spPr>
            <a:xfrm flipH="1" flipV="1">
              <a:off x="6931541" y="1432801"/>
              <a:ext cx="986790" cy="95630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3B89C6A-F9BF-45DF-B73D-8D305BF34DA2}"/>
                </a:ext>
              </a:extLst>
            </p:cNvPr>
            <p:cNvCxnSpPr>
              <a:cxnSpLocks/>
            </p:cNvCxnSpPr>
            <p:nvPr/>
          </p:nvCxnSpPr>
          <p:spPr>
            <a:xfrm flipV="1">
              <a:off x="6936541" y="1433992"/>
              <a:ext cx="0" cy="95630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5B43847-CA6C-4989-9E59-8F049B99CB59}"/>
                </a:ext>
              </a:extLst>
            </p:cNvPr>
            <p:cNvSpPr txBox="1"/>
            <p:nvPr/>
          </p:nvSpPr>
          <p:spPr>
            <a:xfrm rot="16200000">
              <a:off x="4663078" y="1859101"/>
              <a:ext cx="257701" cy="172273"/>
            </a:xfrm>
            <a:prstGeom prst="rect">
              <a:avLst/>
            </a:prstGeom>
            <a:noFill/>
            <a:ln w="19050">
              <a:noFill/>
            </a:ln>
          </p:spPr>
          <p:txBody>
            <a:bodyPr wrap="none" rtlCol="0">
              <a:spAutoFit/>
            </a:bodyPr>
            <a:lstStyle/>
            <a:p>
              <a:r>
                <a:rPr lang="en-US" dirty="0"/>
                <a:t>CNT</a:t>
              </a:r>
            </a:p>
          </p:txBody>
        </p:sp>
        <p:cxnSp>
          <p:nvCxnSpPr>
            <p:cNvPr id="15" name="Straight Arrow Connector 14">
              <a:extLst>
                <a:ext uri="{FF2B5EF4-FFF2-40B4-BE49-F238E27FC236}">
                  <a16:creationId xmlns:a16="http://schemas.microsoft.com/office/drawing/2014/main" id="{8A1EBE23-77E6-4E47-9AA8-450370F6BB37}"/>
                </a:ext>
              </a:extLst>
            </p:cNvPr>
            <p:cNvCxnSpPr>
              <a:cxnSpLocks/>
            </p:cNvCxnSpPr>
            <p:nvPr/>
          </p:nvCxnSpPr>
          <p:spPr>
            <a:xfrm>
              <a:off x="4626769" y="1452563"/>
              <a:ext cx="29051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3E05988-CE4E-4286-8EA2-5A5510F98C84}"/>
                </a:ext>
              </a:extLst>
            </p:cNvPr>
            <p:cNvSpPr txBox="1"/>
            <p:nvPr/>
          </p:nvSpPr>
          <p:spPr>
            <a:xfrm>
              <a:off x="4289378" y="1356187"/>
              <a:ext cx="246147" cy="153228"/>
            </a:xfrm>
            <a:prstGeom prst="rect">
              <a:avLst/>
            </a:prstGeom>
            <a:noFill/>
            <a:ln w="19050">
              <a:noFill/>
            </a:ln>
          </p:spPr>
          <p:txBody>
            <a:bodyPr wrap="none" rtlCol="0">
              <a:spAutoFit/>
            </a:bodyPr>
            <a:lstStyle/>
            <a:p>
              <a:r>
                <a:rPr lang="en-US" sz="1600" dirty="0"/>
                <a:t>ARR</a:t>
              </a:r>
              <a:endParaRPr lang="en-US" sz="1100" dirty="0"/>
            </a:p>
          </p:txBody>
        </p:sp>
        <p:sp>
          <p:nvSpPr>
            <p:cNvPr id="17" name="TextBox 16">
              <a:extLst>
                <a:ext uri="{FF2B5EF4-FFF2-40B4-BE49-F238E27FC236}">
                  <a16:creationId xmlns:a16="http://schemas.microsoft.com/office/drawing/2014/main" id="{B3AC80F9-A995-4B0A-BB4A-0553B6ED8CDC}"/>
                </a:ext>
              </a:extLst>
            </p:cNvPr>
            <p:cNvSpPr txBox="1"/>
            <p:nvPr/>
          </p:nvSpPr>
          <p:spPr>
            <a:xfrm>
              <a:off x="5974073" y="607698"/>
              <a:ext cx="314937" cy="153228"/>
            </a:xfrm>
            <a:prstGeom prst="rect">
              <a:avLst/>
            </a:prstGeom>
            <a:noFill/>
            <a:ln w="19050">
              <a:noFill/>
            </a:ln>
          </p:spPr>
          <p:txBody>
            <a:bodyPr wrap="none" rtlCol="0">
              <a:spAutoFit/>
            </a:bodyPr>
            <a:lstStyle/>
            <a:p>
              <a:r>
                <a:rPr lang="en-US" sz="1600" b="1" dirty="0"/>
                <a:t>UIF=1</a:t>
              </a:r>
            </a:p>
          </p:txBody>
        </p:sp>
        <p:cxnSp>
          <p:nvCxnSpPr>
            <p:cNvPr id="18" name="Straight Arrow Connector 17">
              <a:extLst>
                <a:ext uri="{FF2B5EF4-FFF2-40B4-BE49-F238E27FC236}">
                  <a16:creationId xmlns:a16="http://schemas.microsoft.com/office/drawing/2014/main" id="{29A1E7C4-3A3E-436A-88CE-5CE4EAEE0636}"/>
                </a:ext>
              </a:extLst>
            </p:cNvPr>
            <p:cNvCxnSpPr>
              <a:stCxn id="17" idx="2"/>
            </p:cNvCxnSpPr>
            <p:nvPr/>
          </p:nvCxnSpPr>
          <p:spPr>
            <a:xfrm flipH="1">
              <a:off x="6019800" y="760926"/>
              <a:ext cx="111741" cy="627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BB9CB56-588E-4EFF-BFB0-1C5C86D10F6B}"/>
                </a:ext>
              </a:extLst>
            </p:cNvPr>
            <p:cNvCxnSpPr>
              <a:cxnSpLocks/>
              <a:stCxn id="17" idx="2"/>
            </p:cNvCxnSpPr>
            <p:nvPr/>
          </p:nvCxnSpPr>
          <p:spPr>
            <a:xfrm>
              <a:off x="6131542" y="760926"/>
              <a:ext cx="794998" cy="60673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3DA6C95-DE64-43FF-A1A4-16A97FBB5B52}"/>
                </a:ext>
              </a:extLst>
            </p:cNvPr>
            <p:cNvSpPr txBox="1"/>
            <p:nvPr/>
          </p:nvSpPr>
          <p:spPr>
            <a:xfrm>
              <a:off x="6044106" y="2411809"/>
              <a:ext cx="649537" cy="369332"/>
            </a:xfrm>
            <a:prstGeom prst="rect">
              <a:avLst/>
            </a:prstGeom>
            <a:noFill/>
            <a:ln w="19050">
              <a:noFill/>
            </a:ln>
          </p:spPr>
          <p:txBody>
            <a:bodyPr wrap="none" rtlCol="0">
              <a:spAutoFit/>
            </a:bodyPr>
            <a:lstStyle/>
            <a:p>
              <a:r>
                <a:rPr lang="en-US" dirty="0"/>
                <a:t>Time</a:t>
              </a:r>
            </a:p>
          </p:txBody>
        </p:sp>
      </p:grpSp>
      <p:cxnSp>
        <p:nvCxnSpPr>
          <p:cNvPr id="23" name="Straight Arrow Connector 22">
            <a:extLst>
              <a:ext uri="{FF2B5EF4-FFF2-40B4-BE49-F238E27FC236}">
                <a16:creationId xmlns:a16="http://schemas.microsoft.com/office/drawing/2014/main" id="{9B1EA1C0-C61B-4AA9-AD1E-B77C6987E8BE}"/>
              </a:ext>
            </a:extLst>
          </p:cNvPr>
          <p:cNvCxnSpPr>
            <a:cxnSpLocks/>
          </p:cNvCxnSpPr>
          <p:nvPr/>
        </p:nvCxnSpPr>
        <p:spPr>
          <a:xfrm>
            <a:off x="6955983" y="2400387"/>
            <a:ext cx="40216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2C0EC0E-1DAB-4F0D-9C49-05EAA6FE8A0E}"/>
              </a:ext>
            </a:extLst>
          </p:cNvPr>
          <p:cNvSpPr txBox="1"/>
          <p:nvPr/>
        </p:nvSpPr>
        <p:spPr>
          <a:xfrm>
            <a:off x="6456445" y="2230654"/>
            <a:ext cx="619080" cy="338554"/>
          </a:xfrm>
          <a:prstGeom prst="rect">
            <a:avLst/>
          </a:prstGeom>
          <a:noFill/>
          <a:ln w="19050">
            <a:noFill/>
          </a:ln>
        </p:spPr>
        <p:txBody>
          <a:bodyPr wrap="none" rtlCol="0">
            <a:spAutoFit/>
          </a:bodyPr>
          <a:lstStyle/>
          <a:p>
            <a:r>
              <a:rPr lang="en-US" sz="1600" dirty="0"/>
              <a:t>CCR1</a:t>
            </a:r>
            <a:endParaRPr lang="en-US" sz="1100" dirty="0"/>
          </a:p>
        </p:txBody>
      </p:sp>
      <p:cxnSp>
        <p:nvCxnSpPr>
          <p:cNvPr id="25" name="Straight Connector 24">
            <a:extLst>
              <a:ext uri="{FF2B5EF4-FFF2-40B4-BE49-F238E27FC236}">
                <a16:creationId xmlns:a16="http://schemas.microsoft.com/office/drawing/2014/main" id="{89F4836A-03EE-42EA-8874-194BFFE96A27}"/>
              </a:ext>
            </a:extLst>
          </p:cNvPr>
          <p:cNvCxnSpPr/>
          <p:nvPr/>
        </p:nvCxnSpPr>
        <p:spPr>
          <a:xfrm>
            <a:off x="7408410" y="2400387"/>
            <a:ext cx="44073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60B38D3-6BFB-41E4-AE48-FE707E3426B8}"/>
              </a:ext>
            </a:extLst>
          </p:cNvPr>
          <p:cNvCxnSpPr>
            <a:cxnSpLocks/>
          </p:cNvCxnSpPr>
          <p:nvPr/>
        </p:nvCxnSpPr>
        <p:spPr>
          <a:xfrm>
            <a:off x="7190516" y="4033005"/>
            <a:ext cx="472049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9E7C4A25-EE07-46CA-B400-A5381BFFFFC8}"/>
              </a:ext>
            </a:extLst>
          </p:cNvPr>
          <p:cNvCxnSpPr>
            <a:cxnSpLocks/>
          </p:cNvCxnSpPr>
          <p:nvPr/>
        </p:nvCxnSpPr>
        <p:spPr>
          <a:xfrm flipV="1">
            <a:off x="7401488" y="3314701"/>
            <a:ext cx="0" cy="94204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CAA65060-96CA-49E5-A0D1-F4AA4E4DAF16}"/>
              </a:ext>
            </a:extLst>
          </p:cNvPr>
          <p:cNvCxnSpPr>
            <a:cxnSpLocks/>
          </p:cNvCxnSpPr>
          <p:nvPr/>
        </p:nvCxnSpPr>
        <p:spPr>
          <a:xfrm>
            <a:off x="8278805" y="3689956"/>
            <a:ext cx="509813"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34" name="Straight Connector 33">
            <a:extLst>
              <a:ext uri="{FF2B5EF4-FFF2-40B4-BE49-F238E27FC236}">
                <a16:creationId xmlns:a16="http://schemas.microsoft.com/office/drawing/2014/main" id="{C197AD24-149E-4C6D-8F4F-BB6DC44A32A6}"/>
              </a:ext>
            </a:extLst>
          </p:cNvPr>
          <p:cNvCxnSpPr>
            <a:cxnSpLocks/>
          </p:cNvCxnSpPr>
          <p:nvPr/>
        </p:nvCxnSpPr>
        <p:spPr>
          <a:xfrm flipV="1">
            <a:off x="8794193" y="3689956"/>
            <a:ext cx="0" cy="340518"/>
          </a:xfrm>
          <a:prstGeom prst="line">
            <a:avLst/>
          </a:prstGeom>
        </p:spPr>
        <p:style>
          <a:lnRef idx="3">
            <a:schemeClr val="accent2"/>
          </a:lnRef>
          <a:fillRef idx="0">
            <a:schemeClr val="accent2"/>
          </a:fillRef>
          <a:effectRef idx="2">
            <a:schemeClr val="accent2"/>
          </a:effectRef>
          <a:fontRef idx="minor">
            <a:schemeClr val="tx1"/>
          </a:fontRef>
        </p:style>
      </p:cxnSp>
      <p:pic>
        <p:nvPicPr>
          <p:cNvPr id="22" name="Picture 21">
            <a:extLst>
              <a:ext uri="{FF2B5EF4-FFF2-40B4-BE49-F238E27FC236}">
                <a16:creationId xmlns:a16="http://schemas.microsoft.com/office/drawing/2014/main" id="{B51DB68B-9579-4E81-9C38-C76D2D9DD9DA}"/>
              </a:ext>
            </a:extLst>
          </p:cNvPr>
          <p:cNvPicPr>
            <a:picLocks noChangeAspect="1"/>
          </p:cNvPicPr>
          <p:nvPr/>
        </p:nvPicPr>
        <p:blipFill>
          <a:blip r:embed="rId2"/>
          <a:stretch>
            <a:fillRect/>
          </a:stretch>
        </p:blipFill>
        <p:spPr>
          <a:xfrm>
            <a:off x="8060403" y="4450368"/>
            <a:ext cx="3448672" cy="2329844"/>
          </a:xfrm>
          <a:prstGeom prst="rect">
            <a:avLst/>
          </a:prstGeom>
        </p:spPr>
      </p:pic>
      <p:cxnSp>
        <p:nvCxnSpPr>
          <p:cNvPr id="35" name="Straight Connector 34">
            <a:extLst>
              <a:ext uri="{FF2B5EF4-FFF2-40B4-BE49-F238E27FC236}">
                <a16:creationId xmlns:a16="http://schemas.microsoft.com/office/drawing/2014/main" id="{97D0AD14-0BC2-4990-B921-30FBEE5E7F87}"/>
              </a:ext>
            </a:extLst>
          </p:cNvPr>
          <p:cNvCxnSpPr>
            <a:cxnSpLocks/>
          </p:cNvCxnSpPr>
          <p:nvPr/>
        </p:nvCxnSpPr>
        <p:spPr>
          <a:xfrm flipV="1">
            <a:off x="8278805" y="3690938"/>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37" name="Straight Connector 36">
            <a:extLst>
              <a:ext uri="{FF2B5EF4-FFF2-40B4-BE49-F238E27FC236}">
                <a16:creationId xmlns:a16="http://schemas.microsoft.com/office/drawing/2014/main" id="{A65ACCB2-A9FC-48F9-820B-3999A1170B71}"/>
              </a:ext>
            </a:extLst>
          </p:cNvPr>
          <p:cNvCxnSpPr>
            <a:cxnSpLocks/>
          </p:cNvCxnSpPr>
          <p:nvPr/>
        </p:nvCxnSpPr>
        <p:spPr>
          <a:xfrm>
            <a:off x="9625007" y="3686855"/>
            <a:ext cx="509813"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38" name="Straight Connector 37">
            <a:extLst>
              <a:ext uri="{FF2B5EF4-FFF2-40B4-BE49-F238E27FC236}">
                <a16:creationId xmlns:a16="http://schemas.microsoft.com/office/drawing/2014/main" id="{9FEB2380-7CBD-4875-9591-05B2B5771DC3}"/>
              </a:ext>
            </a:extLst>
          </p:cNvPr>
          <p:cNvCxnSpPr>
            <a:cxnSpLocks/>
          </p:cNvCxnSpPr>
          <p:nvPr/>
        </p:nvCxnSpPr>
        <p:spPr>
          <a:xfrm flipV="1">
            <a:off x="10140395" y="3686855"/>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40" name="Straight Connector 39">
            <a:extLst>
              <a:ext uri="{FF2B5EF4-FFF2-40B4-BE49-F238E27FC236}">
                <a16:creationId xmlns:a16="http://schemas.microsoft.com/office/drawing/2014/main" id="{75C38ED3-AE23-42D1-8FC6-DC543DA93D90}"/>
              </a:ext>
            </a:extLst>
          </p:cNvPr>
          <p:cNvCxnSpPr>
            <a:cxnSpLocks/>
          </p:cNvCxnSpPr>
          <p:nvPr/>
        </p:nvCxnSpPr>
        <p:spPr>
          <a:xfrm flipV="1">
            <a:off x="9625007" y="3687837"/>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41" name="Straight Connector 40">
            <a:extLst>
              <a:ext uri="{FF2B5EF4-FFF2-40B4-BE49-F238E27FC236}">
                <a16:creationId xmlns:a16="http://schemas.microsoft.com/office/drawing/2014/main" id="{91034136-9424-48AB-BE77-78C20697C8A7}"/>
              </a:ext>
            </a:extLst>
          </p:cNvPr>
          <p:cNvCxnSpPr>
            <a:cxnSpLocks/>
          </p:cNvCxnSpPr>
          <p:nvPr/>
        </p:nvCxnSpPr>
        <p:spPr>
          <a:xfrm>
            <a:off x="11005073" y="3686855"/>
            <a:ext cx="509813"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43" name="Straight Connector 42">
            <a:extLst>
              <a:ext uri="{FF2B5EF4-FFF2-40B4-BE49-F238E27FC236}">
                <a16:creationId xmlns:a16="http://schemas.microsoft.com/office/drawing/2014/main" id="{CBB90E0C-0983-465B-8A6E-B522D6CF3C90}"/>
              </a:ext>
            </a:extLst>
          </p:cNvPr>
          <p:cNvCxnSpPr>
            <a:cxnSpLocks/>
          </p:cNvCxnSpPr>
          <p:nvPr/>
        </p:nvCxnSpPr>
        <p:spPr>
          <a:xfrm flipV="1">
            <a:off x="11520461" y="3686855"/>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46" name="Straight Connector 45">
            <a:extLst>
              <a:ext uri="{FF2B5EF4-FFF2-40B4-BE49-F238E27FC236}">
                <a16:creationId xmlns:a16="http://schemas.microsoft.com/office/drawing/2014/main" id="{0796B9E1-11FB-4A32-A71C-5C2D4663F279}"/>
              </a:ext>
            </a:extLst>
          </p:cNvPr>
          <p:cNvCxnSpPr>
            <a:cxnSpLocks/>
          </p:cNvCxnSpPr>
          <p:nvPr/>
        </p:nvCxnSpPr>
        <p:spPr>
          <a:xfrm flipV="1">
            <a:off x="11005073" y="3687837"/>
            <a:ext cx="0" cy="340518"/>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098726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F9357-708F-423A-AE27-A8AD5FB8BB14}"/>
              </a:ext>
            </a:extLst>
          </p:cNvPr>
          <p:cNvSpPr>
            <a:spLocks noGrp="1"/>
          </p:cNvSpPr>
          <p:nvPr>
            <p:ph type="title"/>
          </p:nvPr>
        </p:nvSpPr>
        <p:spPr/>
        <p:txBody>
          <a:bodyPr/>
          <a:lstStyle/>
          <a:p>
            <a:r>
              <a:rPr lang="en-US" dirty="0"/>
              <a:t>5- PWM  - Center aligned</a:t>
            </a:r>
          </a:p>
        </p:txBody>
      </p:sp>
      <p:sp>
        <p:nvSpPr>
          <p:cNvPr id="3" name="Content Placeholder 2">
            <a:extLst>
              <a:ext uri="{FF2B5EF4-FFF2-40B4-BE49-F238E27FC236}">
                <a16:creationId xmlns:a16="http://schemas.microsoft.com/office/drawing/2014/main" id="{E656BA0D-77ED-478C-8CC4-3F5175596BF0}"/>
              </a:ext>
            </a:extLst>
          </p:cNvPr>
          <p:cNvSpPr>
            <a:spLocks noGrp="1"/>
          </p:cNvSpPr>
          <p:nvPr>
            <p:ph idx="1"/>
          </p:nvPr>
        </p:nvSpPr>
        <p:spPr>
          <a:xfrm>
            <a:off x="52616" y="2266442"/>
            <a:ext cx="7719784" cy="3455813"/>
          </a:xfrm>
        </p:spPr>
        <p:txBody>
          <a:bodyPr>
            <a:normAutofit/>
          </a:bodyPr>
          <a:lstStyle/>
          <a:p>
            <a:pPr marL="0" indent="0" algn="l">
              <a:spcBef>
                <a:spcPts val="0"/>
              </a:spcBef>
              <a:buNone/>
            </a:pPr>
            <a:r>
              <a:rPr lang="en-US" sz="1800" dirty="0">
                <a:solidFill>
                  <a:srgbClr val="3F7F5F"/>
                </a:solidFill>
                <a:latin typeface="Consolas" panose="020B0609020204030204" pitchFamily="49" charset="0"/>
              </a:rPr>
              <a:t>// Use Case 3: PWM mode 1 - Center Aligned</a:t>
            </a:r>
          </a:p>
          <a:p>
            <a:pPr marL="0" indent="0" algn="l">
              <a:spcBef>
                <a:spcPts val="0"/>
              </a:spcBef>
              <a:buNone/>
            </a:pPr>
            <a:r>
              <a:rPr lang="en-US" sz="1800" dirty="0">
                <a:solidFill>
                  <a:srgbClr val="000000"/>
                </a:solidFill>
                <a:latin typeface="Consolas" panose="020B0609020204030204" pitchFamily="49" charset="0"/>
              </a:rPr>
              <a:t>RCC-&gt;</a:t>
            </a:r>
            <a:r>
              <a:rPr lang="en-US" sz="1800" dirty="0">
                <a:solidFill>
                  <a:srgbClr val="0000C0"/>
                </a:solidFill>
                <a:latin typeface="Consolas" panose="020B0609020204030204" pitchFamily="49" charset="0"/>
              </a:rPr>
              <a:t>APB1ENR1</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enable TIM2 clock</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PSC</a:t>
            </a:r>
            <a:r>
              <a:rPr lang="en-US" sz="1800" dirty="0">
                <a:solidFill>
                  <a:srgbClr val="000000"/>
                </a:solidFill>
                <a:latin typeface="Consolas" panose="020B0609020204030204" pitchFamily="49" charset="0"/>
              </a:rPr>
              <a:t> = 16000 - 1;  </a:t>
            </a:r>
            <a:r>
              <a:rPr lang="en-US" sz="1800" dirty="0">
                <a:solidFill>
                  <a:srgbClr val="3F7F5F"/>
                </a:solidFill>
                <a:latin typeface="Consolas" panose="020B0609020204030204" pitchFamily="49" charset="0"/>
              </a:rPr>
              <a:t>// divided by 16000</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ARR</a:t>
            </a:r>
            <a:r>
              <a:rPr lang="en-US" sz="1800" dirty="0">
                <a:solidFill>
                  <a:srgbClr val="000000"/>
                </a:solidFill>
                <a:latin typeface="Consolas" panose="020B0609020204030204" pitchFamily="49" charset="0"/>
              </a:rPr>
              <a:t> = 1000 - 1;   </a:t>
            </a:r>
            <a:r>
              <a:rPr lang="en-US" sz="1800" dirty="0">
                <a:solidFill>
                  <a:srgbClr val="3F7F5F"/>
                </a:solidFill>
                <a:latin typeface="Consolas" panose="020B0609020204030204" pitchFamily="49" charset="0"/>
              </a:rPr>
              <a:t>// divided by 1000</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CCMR1</a:t>
            </a:r>
            <a:r>
              <a:rPr lang="en-US" sz="1800" dirty="0">
                <a:solidFill>
                  <a:srgbClr val="000000"/>
                </a:solidFill>
                <a:latin typeface="Consolas" panose="020B0609020204030204" pitchFamily="49" charset="0"/>
              </a:rPr>
              <a:t> = 0x60;  </a:t>
            </a:r>
            <a:r>
              <a:rPr lang="en-US" sz="1800" dirty="0">
                <a:solidFill>
                  <a:srgbClr val="3F7F5F"/>
                </a:solidFill>
                <a:latin typeface="Consolas" panose="020B0609020204030204" pitchFamily="49" charset="0"/>
              </a:rPr>
              <a:t>// PWM, High if CNT&lt;CCR1 if count down</a:t>
            </a:r>
          </a:p>
          <a:p>
            <a:pPr marL="0" indent="0" algn="l">
              <a:spcBef>
                <a:spcPts val="0"/>
              </a:spcBef>
              <a:buNone/>
            </a:pPr>
            <a:r>
              <a:rPr lang="en-US" sz="1800" dirty="0">
                <a:solidFill>
                  <a:srgbClr val="3F7F5F"/>
                </a:solidFill>
                <a:latin typeface="Consolas" panose="020B0609020204030204" pitchFamily="49" charset="0"/>
              </a:rPr>
              <a:t>                     //       or if CNT&gt;CCR1 if count up </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CCR1</a:t>
            </a:r>
            <a:r>
              <a:rPr lang="en-US" sz="1800" dirty="0">
                <a:solidFill>
                  <a:srgbClr val="000000"/>
                </a:solidFill>
                <a:latin typeface="Consolas" panose="020B0609020204030204" pitchFamily="49" charset="0"/>
              </a:rPr>
              <a:t> = 900;       </a:t>
            </a:r>
            <a:r>
              <a:rPr lang="en-US" sz="1800" dirty="0">
                <a:solidFill>
                  <a:srgbClr val="3F7F5F"/>
                </a:solidFill>
                <a:latin typeface="Consolas" panose="020B0609020204030204" pitchFamily="49" charset="0"/>
              </a:rPr>
              <a:t>// set match value</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CCER</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enable CH1 compare mode</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CNT</a:t>
            </a:r>
            <a:r>
              <a:rPr lang="en-US" sz="1800" dirty="0">
                <a:solidFill>
                  <a:srgbClr val="000000"/>
                </a:solidFill>
                <a:latin typeface="Consolas" panose="020B0609020204030204" pitchFamily="49" charset="0"/>
              </a:rPr>
              <a:t> = 0;          </a:t>
            </a:r>
            <a:r>
              <a:rPr lang="en-US" sz="1800" dirty="0">
                <a:solidFill>
                  <a:srgbClr val="3F7F5F"/>
                </a:solidFill>
                <a:latin typeface="Consolas" panose="020B0609020204030204" pitchFamily="49" charset="0"/>
              </a:rPr>
              <a:t>// clear counter</a:t>
            </a:r>
          </a:p>
          <a:p>
            <a:pPr marL="0" indent="0" algn="l">
              <a:spcBef>
                <a:spcPts val="0"/>
              </a:spcBef>
              <a:buNone/>
            </a:pPr>
            <a:r>
              <a:rPr lang="en-US" sz="1800" dirty="0">
                <a:solidFill>
                  <a:srgbClr val="000000"/>
                </a:solidFill>
                <a:latin typeface="Consolas" panose="020B0609020204030204" pitchFamily="49" charset="0"/>
              </a:rPr>
              <a:t>TIM2-&gt;</a:t>
            </a:r>
            <a:r>
              <a:rPr lang="en-US" sz="1800" dirty="0">
                <a:solidFill>
                  <a:srgbClr val="0000C0"/>
                </a:solidFill>
                <a:latin typeface="Consolas" panose="020B0609020204030204" pitchFamily="49" charset="0"/>
              </a:rPr>
              <a:t>CR1</a:t>
            </a:r>
            <a:r>
              <a:rPr lang="en-US" sz="1800" dirty="0">
                <a:solidFill>
                  <a:srgbClr val="000000"/>
                </a:solidFill>
                <a:latin typeface="Consolas" panose="020B0609020204030204" pitchFamily="49" charset="0"/>
              </a:rPr>
              <a:t> = 0x61;       </a:t>
            </a:r>
            <a:r>
              <a:rPr lang="en-US" sz="1800" dirty="0">
                <a:solidFill>
                  <a:srgbClr val="3F7F5F"/>
                </a:solidFill>
                <a:latin typeface="Consolas" panose="020B0609020204030204" pitchFamily="49" charset="0"/>
              </a:rPr>
              <a:t>// enable TIM2 , Center-aligned </a:t>
            </a:r>
            <a:endParaRPr lang="en-US" dirty="0"/>
          </a:p>
        </p:txBody>
      </p:sp>
      <p:sp>
        <p:nvSpPr>
          <p:cNvPr id="4" name="Footer Placeholder 3">
            <a:extLst>
              <a:ext uri="{FF2B5EF4-FFF2-40B4-BE49-F238E27FC236}">
                <a16:creationId xmlns:a16="http://schemas.microsoft.com/office/drawing/2014/main" id="{A984AFE1-98A4-4FC2-9E63-BCF10B3D9A1A}"/>
              </a:ext>
            </a:extLst>
          </p:cNvPr>
          <p:cNvSpPr>
            <a:spLocks noGrp="1"/>
          </p:cNvSpPr>
          <p:nvPr>
            <p:ph type="ftr" sz="quarter" idx="11"/>
          </p:nvPr>
        </p:nvSpPr>
        <p:spPr/>
        <p:txBody>
          <a:bodyPr/>
          <a:lstStyle/>
          <a:p>
            <a:r>
              <a:rPr lang="en-US" dirty="0"/>
              <a:t>ECE433/533 Boise State University - 2025 - Fady</a:t>
            </a:r>
          </a:p>
        </p:txBody>
      </p:sp>
      <p:cxnSp>
        <p:nvCxnSpPr>
          <p:cNvPr id="6" name="Straight Connector 5">
            <a:extLst>
              <a:ext uri="{FF2B5EF4-FFF2-40B4-BE49-F238E27FC236}">
                <a16:creationId xmlns:a16="http://schemas.microsoft.com/office/drawing/2014/main" id="{137E0392-6F54-47AB-B3B4-0A0D479C8053}"/>
              </a:ext>
            </a:extLst>
          </p:cNvPr>
          <p:cNvCxnSpPr>
            <a:cxnSpLocks/>
          </p:cNvCxnSpPr>
          <p:nvPr/>
        </p:nvCxnSpPr>
        <p:spPr>
          <a:xfrm flipH="1" flipV="1">
            <a:off x="7401488" y="1519367"/>
            <a:ext cx="1366042" cy="14039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A448378-B3B9-4CC4-8BC7-8CBE87312472}"/>
              </a:ext>
            </a:extLst>
          </p:cNvPr>
          <p:cNvCxnSpPr>
            <a:cxnSpLocks/>
          </p:cNvCxnSpPr>
          <p:nvPr/>
        </p:nvCxnSpPr>
        <p:spPr>
          <a:xfrm flipV="1">
            <a:off x="7408410" y="1521115"/>
            <a:ext cx="0" cy="14039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B1989A9-FA1B-4F59-AA71-E4D554E53C0D}"/>
              </a:ext>
            </a:extLst>
          </p:cNvPr>
          <p:cNvCxnSpPr/>
          <p:nvPr/>
        </p:nvCxnSpPr>
        <p:spPr>
          <a:xfrm>
            <a:off x="7190516" y="2923342"/>
            <a:ext cx="472049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5D32486D-2AB8-40E6-9EFC-8212477B101F}"/>
              </a:ext>
            </a:extLst>
          </p:cNvPr>
          <p:cNvCxnSpPr>
            <a:cxnSpLocks/>
          </p:cNvCxnSpPr>
          <p:nvPr/>
        </p:nvCxnSpPr>
        <p:spPr>
          <a:xfrm flipV="1">
            <a:off x="7401488" y="919690"/>
            <a:ext cx="0" cy="222739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B54C688C-7EE6-4929-A433-012FD378B213}"/>
              </a:ext>
            </a:extLst>
          </p:cNvPr>
          <p:cNvCxnSpPr>
            <a:cxnSpLocks/>
          </p:cNvCxnSpPr>
          <p:nvPr/>
        </p:nvCxnSpPr>
        <p:spPr>
          <a:xfrm flipV="1">
            <a:off x="8764069" y="1543137"/>
            <a:ext cx="1356920" cy="13749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50CBD7-684C-45E1-AD9B-912464D7ACF0}"/>
              </a:ext>
            </a:extLst>
          </p:cNvPr>
          <p:cNvCxnSpPr>
            <a:cxnSpLocks/>
          </p:cNvCxnSpPr>
          <p:nvPr/>
        </p:nvCxnSpPr>
        <p:spPr>
          <a:xfrm flipH="1" flipV="1">
            <a:off x="10107146" y="1543136"/>
            <a:ext cx="1372966" cy="137496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3B89C6A-F9BF-45DF-B73D-8D305BF34DA2}"/>
              </a:ext>
            </a:extLst>
          </p:cNvPr>
          <p:cNvCxnSpPr>
            <a:cxnSpLocks/>
          </p:cNvCxnSpPr>
          <p:nvPr/>
        </p:nvCxnSpPr>
        <p:spPr>
          <a:xfrm flipV="1">
            <a:off x="11480111" y="1847712"/>
            <a:ext cx="1035193" cy="10703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5B43847-CA6C-4989-9E59-8F049B99CB59}"/>
              </a:ext>
            </a:extLst>
          </p:cNvPr>
          <p:cNvSpPr txBox="1"/>
          <p:nvPr/>
        </p:nvSpPr>
        <p:spPr>
          <a:xfrm rot="16200000">
            <a:off x="6962972" y="2147201"/>
            <a:ext cx="378336" cy="238483"/>
          </a:xfrm>
          <a:prstGeom prst="rect">
            <a:avLst/>
          </a:prstGeom>
          <a:noFill/>
          <a:ln w="19050">
            <a:noFill/>
          </a:ln>
        </p:spPr>
        <p:txBody>
          <a:bodyPr wrap="none" rtlCol="0">
            <a:spAutoFit/>
          </a:bodyPr>
          <a:lstStyle/>
          <a:p>
            <a:r>
              <a:rPr lang="en-US" dirty="0"/>
              <a:t>CNT</a:t>
            </a:r>
          </a:p>
        </p:txBody>
      </p:sp>
      <p:cxnSp>
        <p:nvCxnSpPr>
          <p:cNvPr id="15" name="Straight Arrow Connector 14">
            <a:extLst>
              <a:ext uri="{FF2B5EF4-FFF2-40B4-BE49-F238E27FC236}">
                <a16:creationId xmlns:a16="http://schemas.microsoft.com/office/drawing/2014/main" id="{8A1EBE23-77E6-4E47-9AA8-450370F6BB37}"/>
              </a:ext>
            </a:extLst>
          </p:cNvPr>
          <p:cNvCxnSpPr>
            <a:cxnSpLocks/>
          </p:cNvCxnSpPr>
          <p:nvPr/>
        </p:nvCxnSpPr>
        <p:spPr>
          <a:xfrm>
            <a:off x="6923505" y="1543137"/>
            <a:ext cx="40216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3E05988-CE4E-4286-8EA2-5A5510F98C84}"/>
              </a:ext>
            </a:extLst>
          </p:cNvPr>
          <p:cNvSpPr txBox="1"/>
          <p:nvPr/>
        </p:nvSpPr>
        <p:spPr>
          <a:xfrm>
            <a:off x="6456445" y="1401646"/>
            <a:ext cx="340749" cy="224957"/>
          </a:xfrm>
          <a:prstGeom prst="rect">
            <a:avLst/>
          </a:prstGeom>
          <a:noFill/>
          <a:ln w="19050">
            <a:noFill/>
          </a:ln>
        </p:spPr>
        <p:txBody>
          <a:bodyPr wrap="none" rtlCol="0">
            <a:spAutoFit/>
          </a:bodyPr>
          <a:lstStyle/>
          <a:p>
            <a:r>
              <a:rPr lang="en-US" sz="1600" dirty="0"/>
              <a:t>ARR</a:t>
            </a:r>
            <a:endParaRPr lang="en-US" sz="1100" dirty="0"/>
          </a:p>
        </p:txBody>
      </p:sp>
      <p:sp>
        <p:nvSpPr>
          <p:cNvPr id="17" name="TextBox 16">
            <a:extLst>
              <a:ext uri="{FF2B5EF4-FFF2-40B4-BE49-F238E27FC236}">
                <a16:creationId xmlns:a16="http://schemas.microsoft.com/office/drawing/2014/main" id="{B3AC80F9-A995-4B0A-BB4A-0553B6ED8CDC}"/>
              </a:ext>
            </a:extLst>
          </p:cNvPr>
          <p:cNvSpPr txBox="1"/>
          <p:nvPr/>
        </p:nvSpPr>
        <p:spPr>
          <a:xfrm>
            <a:off x="8788618" y="302774"/>
            <a:ext cx="435977" cy="224957"/>
          </a:xfrm>
          <a:prstGeom prst="rect">
            <a:avLst/>
          </a:prstGeom>
          <a:noFill/>
          <a:ln w="19050">
            <a:noFill/>
          </a:ln>
        </p:spPr>
        <p:txBody>
          <a:bodyPr wrap="none" rtlCol="0">
            <a:spAutoFit/>
          </a:bodyPr>
          <a:lstStyle/>
          <a:p>
            <a:r>
              <a:rPr lang="en-US" sz="1600" b="1" dirty="0"/>
              <a:t>UIF=1</a:t>
            </a:r>
          </a:p>
        </p:txBody>
      </p:sp>
      <p:cxnSp>
        <p:nvCxnSpPr>
          <p:cNvPr id="18" name="Straight Arrow Connector 17">
            <a:extLst>
              <a:ext uri="{FF2B5EF4-FFF2-40B4-BE49-F238E27FC236}">
                <a16:creationId xmlns:a16="http://schemas.microsoft.com/office/drawing/2014/main" id="{29A1E7C4-3A3E-436A-88CE-5CE4EAEE0636}"/>
              </a:ext>
            </a:extLst>
          </p:cNvPr>
          <p:cNvCxnSpPr>
            <a:stCxn id="17" idx="2"/>
          </p:cNvCxnSpPr>
          <p:nvPr/>
        </p:nvCxnSpPr>
        <p:spPr>
          <a:xfrm flipH="1">
            <a:off x="8851919" y="527731"/>
            <a:ext cx="154686" cy="92113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BB9CB56-588E-4EFF-BFB0-1C5C86D10F6B}"/>
              </a:ext>
            </a:extLst>
          </p:cNvPr>
          <p:cNvCxnSpPr>
            <a:cxnSpLocks/>
            <a:stCxn id="17" idx="2"/>
          </p:cNvCxnSpPr>
          <p:nvPr/>
        </p:nvCxnSpPr>
        <p:spPr>
          <a:xfrm>
            <a:off x="9006607" y="527731"/>
            <a:ext cx="1100539" cy="8907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3DA6C95-DE64-43FF-A1A4-16A97FBB5B52}"/>
              </a:ext>
            </a:extLst>
          </p:cNvPr>
          <p:cNvSpPr txBox="1"/>
          <p:nvPr/>
        </p:nvSpPr>
        <p:spPr>
          <a:xfrm>
            <a:off x="8885566" y="2951425"/>
            <a:ext cx="899173" cy="542224"/>
          </a:xfrm>
          <a:prstGeom prst="rect">
            <a:avLst/>
          </a:prstGeom>
          <a:noFill/>
          <a:ln w="19050">
            <a:noFill/>
          </a:ln>
        </p:spPr>
        <p:txBody>
          <a:bodyPr wrap="none" rtlCol="0">
            <a:spAutoFit/>
          </a:bodyPr>
          <a:lstStyle/>
          <a:p>
            <a:r>
              <a:rPr lang="en-US" dirty="0"/>
              <a:t>Time</a:t>
            </a:r>
          </a:p>
        </p:txBody>
      </p:sp>
      <p:cxnSp>
        <p:nvCxnSpPr>
          <p:cNvPr id="23" name="Straight Arrow Connector 22">
            <a:extLst>
              <a:ext uri="{FF2B5EF4-FFF2-40B4-BE49-F238E27FC236}">
                <a16:creationId xmlns:a16="http://schemas.microsoft.com/office/drawing/2014/main" id="{9B1EA1C0-C61B-4AA9-AD1E-B77C6987E8BE}"/>
              </a:ext>
            </a:extLst>
          </p:cNvPr>
          <p:cNvCxnSpPr>
            <a:cxnSpLocks/>
          </p:cNvCxnSpPr>
          <p:nvPr/>
        </p:nvCxnSpPr>
        <p:spPr>
          <a:xfrm>
            <a:off x="6955983" y="2400387"/>
            <a:ext cx="40216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2C0EC0E-1DAB-4F0D-9C49-05EAA6FE8A0E}"/>
              </a:ext>
            </a:extLst>
          </p:cNvPr>
          <p:cNvSpPr txBox="1"/>
          <p:nvPr/>
        </p:nvSpPr>
        <p:spPr>
          <a:xfrm>
            <a:off x="6456445" y="2230654"/>
            <a:ext cx="619080" cy="338554"/>
          </a:xfrm>
          <a:prstGeom prst="rect">
            <a:avLst/>
          </a:prstGeom>
          <a:noFill/>
          <a:ln w="19050">
            <a:noFill/>
          </a:ln>
        </p:spPr>
        <p:txBody>
          <a:bodyPr wrap="none" rtlCol="0">
            <a:spAutoFit/>
          </a:bodyPr>
          <a:lstStyle/>
          <a:p>
            <a:r>
              <a:rPr lang="en-US" sz="1600" dirty="0"/>
              <a:t>CCR1</a:t>
            </a:r>
            <a:endParaRPr lang="en-US" sz="1100" dirty="0"/>
          </a:p>
        </p:txBody>
      </p:sp>
      <p:cxnSp>
        <p:nvCxnSpPr>
          <p:cNvPr id="25" name="Straight Connector 24">
            <a:extLst>
              <a:ext uri="{FF2B5EF4-FFF2-40B4-BE49-F238E27FC236}">
                <a16:creationId xmlns:a16="http://schemas.microsoft.com/office/drawing/2014/main" id="{89F4836A-03EE-42EA-8874-194BFFE96A27}"/>
              </a:ext>
            </a:extLst>
          </p:cNvPr>
          <p:cNvCxnSpPr>
            <a:cxnSpLocks/>
          </p:cNvCxnSpPr>
          <p:nvPr/>
        </p:nvCxnSpPr>
        <p:spPr>
          <a:xfrm flipV="1">
            <a:off x="7408410" y="2399931"/>
            <a:ext cx="4681990" cy="4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60B38D3-6BFB-41E4-AE48-FE707E3426B8}"/>
              </a:ext>
            </a:extLst>
          </p:cNvPr>
          <p:cNvCxnSpPr>
            <a:cxnSpLocks/>
          </p:cNvCxnSpPr>
          <p:nvPr/>
        </p:nvCxnSpPr>
        <p:spPr>
          <a:xfrm>
            <a:off x="7190516" y="4033005"/>
            <a:ext cx="472049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9E7C4A25-EE07-46CA-B400-A5381BFFFFC8}"/>
              </a:ext>
            </a:extLst>
          </p:cNvPr>
          <p:cNvCxnSpPr>
            <a:cxnSpLocks/>
          </p:cNvCxnSpPr>
          <p:nvPr/>
        </p:nvCxnSpPr>
        <p:spPr>
          <a:xfrm flipV="1">
            <a:off x="7401488" y="3314701"/>
            <a:ext cx="0" cy="94204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CAA65060-96CA-49E5-A0D1-F4AA4E4DAF16}"/>
              </a:ext>
            </a:extLst>
          </p:cNvPr>
          <p:cNvCxnSpPr>
            <a:cxnSpLocks/>
          </p:cNvCxnSpPr>
          <p:nvPr/>
        </p:nvCxnSpPr>
        <p:spPr>
          <a:xfrm>
            <a:off x="8278805" y="3689956"/>
            <a:ext cx="509813"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34" name="Straight Connector 33">
            <a:extLst>
              <a:ext uri="{FF2B5EF4-FFF2-40B4-BE49-F238E27FC236}">
                <a16:creationId xmlns:a16="http://schemas.microsoft.com/office/drawing/2014/main" id="{C197AD24-149E-4C6D-8F4F-BB6DC44A32A6}"/>
              </a:ext>
            </a:extLst>
          </p:cNvPr>
          <p:cNvCxnSpPr>
            <a:cxnSpLocks/>
          </p:cNvCxnSpPr>
          <p:nvPr/>
        </p:nvCxnSpPr>
        <p:spPr>
          <a:xfrm flipV="1">
            <a:off x="8288831" y="3686855"/>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35" name="Straight Connector 34">
            <a:extLst>
              <a:ext uri="{FF2B5EF4-FFF2-40B4-BE49-F238E27FC236}">
                <a16:creationId xmlns:a16="http://schemas.microsoft.com/office/drawing/2014/main" id="{97D0AD14-0BC2-4990-B921-30FBEE5E7F87}"/>
              </a:ext>
            </a:extLst>
          </p:cNvPr>
          <p:cNvCxnSpPr>
            <a:cxnSpLocks/>
          </p:cNvCxnSpPr>
          <p:nvPr/>
        </p:nvCxnSpPr>
        <p:spPr>
          <a:xfrm flipV="1">
            <a:off x="9298431" y="3686855"/>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37" name="Straight Connector 36">
            <a:extLst>
              <a:ext uri="{FF2B5EF4-FFF2-40B4-BE49-F238E27FC236}">
                <a16:creationId xmlns:a16="http://schemas.microsoft.com/office/drawing/2014/main" id="{A65ACCB2-A9FC-48F9-820B-3999A1170B71}"/>
              </a:ext>
            </a:extLst>
          </p:cNvPr>
          <p:cNvCxnSpPr>
            <a:cxnSpLocks/>
          </p:cNvCxnSpPr>
          <p:nvPr/>
        </p:nvCxnSpPr>
        <p:spPr>
          <a:xfrm>
            <a:off x="8788618" y="3691552"/>
            <a:ext cx="509813" cy="0"/>
          </a:xfrm>
          <a:prstGeom prst="line">
            <a:avLst/>
          </a:prstGeom>
        </p:spPr>
        <p:style>
          <a:lnRef idx="3">
            <a:schemeClr val="accent2"/>
          </a:lnRef>
          <a:fillRef idx="0">
            <a:schemeClr val="accent2"/>
          </a:fillRef>
          <a:effectRef idx="2">
            <a:schemeClr val="accent2"/>
          </a:effectRef>
          <a:fontRef idx="minor">
            <a:schemeClr val="tx1"/>
          </a:fontRef>
        </p:style>
      </p:cxnSp>
      <p:pic>
        <p:nvPicPr>
          <p:cNvPr id="28" name="Picture 27">
            <a:extLst>
              <a:ext uri="{FF2B5EF4-FFF2-40B4-BE49-F238E27FC236}">
                <a16:creationId xmlns:a16="http://schemas.microsoft.com/office/drawing/2014/main" id="{18E77EE7-0313-4C8F-A4AE-101EA736338D}"/>
              </a:ext>
            </a:extLst>
          </p:cNvPr>
          <p:cNvPicPr>
            <a:picLocks noChangeAspect="1"/>
          </p:cNvPicPr>
          <p:nvPr/>
        </p:nvPicPr>
        <p:blipFill>
          <a:blip r:embed="rId2"/>
          <a:stretch>
            <a:fillRect/>
          </a:stretch>
        </p:blipFill>
        <p:spPr>
          <a:xfrm>
            <a:off x="7690403" y="4210031"/>
            <a:ext cx="3843366" cy="2647969"/>
          </a:xfrm>
          <a:prstGeom prst="rect">
            <a:avLst/>
          </a:prstGeom>
        </p:spPr>
      </p:pic>
      <p:cxnSp>
        <p:nvCxnSpPr>
          <p:cNvPr id="44" name="Straight Connector 43">
            <a:extLst>
              <a:ext uri="{FF2B5EF4-FFF2-40B4-BE49-F238E27FC236}">
                <a16:creationId xmlns:a16="http://schemas.microsoft.com/office/drawing/2014/main" id="{AED65FBA-8E57-4546-8DEA-9AF738FEAA7C}"/>
              </a:ext>
            </a:extLst>
          </p:cNvPr>
          <p:cNvCxnSpPr>
            <a:cxnSpLocks/>
          </p:cNvCxnSpPr>
          <p:nvPr/>
        </p:nvCxnSpPr>
        <p:spPr>
          <a:xfrm>
            <a:off x="10970298" y="3698044"/>
            <a:ext cx="509813"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45" name="Straight Connector 44">
            <a:extLst>
              <a:ext uri="{FF2B5EF4-FFF2-40B4-BE49-F238E27FC236}">
                <a16:creationId xmlns:a16="http://schemas.microsoft.com/office/drawing/2014/main" id="{EAB73185-EEF7-470F-AD06-D46FD9DD3296}"/>
              </a:ext>
            </a:extLst>
          </p:cNvPr>
          <p:cNvCxnSpPr>
            <a:cxnSpLocks/>
          </p:cNvCxnSpPr>
          <p:nvPr/>
        </p:nvCxnSpPr>
        <p:spPr>
          <a:xfrm flipV="1">
            <a:off x="10980324" y="3694943"/>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47" name="Straight Connector 46">
            <a:extLst>
              <a:ext uri="{FF2B5EF4-FFF2-40B4-BE49-F238E27FC236}">
                <a16:creationId xmlns:a16="http://schemas.microsoft.com/office/drawing/2014/main" id="{1BF139B2-DFD8-411E-9082-F4926506F512}"/>
              </a:ext>
            </a:extLst>
          </p:cNvPr>
          <p:cNvCxnSpPr>
            <a:cxnSpLocks/>
          </p:cNvCxnSpPr>
          <p:nvPr/>
        </p:nvCxnSpPr>
        <p:spPr>
          <a:xfrm flipV="1">
            <a:off x="11989924" y="3694943"/>
            <a:ext cx="0" cy="340518"/>
          </a:xfrm>
          <a:prstGeom prst="line">
            <a:avLst/>
          </a:prstGeom>
        </p:spPr>
        <p:style>
          <a:lnRef idx="3">
            <a:schemeClr val="accent2"/>
          </a:lnRef>
          <a:fillRef idx="0">
            <a:schemeClr val="accent2"/>
          </a:fillRef>
          <a:effectRef idx="2">
            <a:schemeClr val="accent2"/>
          </a:effectRef>
          <a:fontRef idx="minor">
            <a:schemeClr val="tx1"/>
          </a:fontRef>
        </p:style>
      </p:cxnSp>
      <p:cxnSp>
        <p:nvCxnSpPr>
          <p:cNvPr id="48" name="Straight Connector 47">
            <a:extLst>
              <a:ext uri="{FF2B5EF4-FFF2-40B4-BE49-F238E27FC236}">
                <a16:creationId xmlns:a16="http://schemas.microsoft.com/office/drawing/2014/main" id="{DA5192DD-53B0-477E-AF43-E8516142F13F}"/>
              </a:ext>
            </a:extLst>
          </p:cNvPr>
          <p:cNvCxnSpPr>
            <a:cxnSpLocks/>
          </p:cNvCxnSpPr>
          <p:nvPr/>
        </p:nvCxnSpPr>
        <p:spPr>
          <a:xfrm>
            <a:off x="11480111" y="3699640"/>
            <a:ext cx="509813"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574950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4B7A4-E05B-4E6A-A0C9-31EDB6C89D3B}"/>
              </a:ext>
            </a:extLst>
          </p:cNvPr>
          <p:cNvSpPr>
            <a:spLocks noGrp="1"/>
          </p:cNvSpPr>
          <p:nvPr>
            <p:ph type="title"/>
          </p:nvPr>
        </p:nvSpPr>
        <p:spPr>
          <a:xfrm>
            <a:off x="838200" y="365125"/>
            <a:ext cx="3571875" cy="1325563"/>
          </a:xfrm>
        </p:spPr>
        <p:txBody>
          <a:bodyPr>
            <a:noAutofit/>
          </a:bodyPr>
          <a:lstStyle/>
          <a:p>
            <a:r>
              <a:rPr lang="en-US" sz="3200" dirty="0"/>
              <a:t>Basic Timers</a:t>
            </a:r>
          </a:p>
        </p:txBody>
      </p:sp>
      <p:sp>
        <p:nvSpPr>
          <p:cNvPr id="3" name="Content Placeholder 2">
            <a:extLst>
              <a:ext uri="{FF2B5EF4-FFF2-40B4-BE49-F238E27FC236}">
                <a16:creationId xmlns:a16="http://schemas.microsoft.com/office/drawing/2014/main" id="{0EBB18E4-4344-43E4-AAA2-F091E52FD043}"/>
              </a:ext>
            </a:extLst>
          </p:cNvPr>
          <p:cNvSpPr>
            <a:spLocks noGrp="1"/>
          </p:cNvSpPr>
          <p:nvPr>
            <p:ph idx="1"/>
          </p:nvPr>
        </p:nvSpPr>
        <p:spPr>
          <a:xfrm>
            <a:off x="838200" y="1825625"/>
            <a:ext cx="3609958" cy="4351338"/>
          </a:xfrm>
        </p:spPr>
        <p:txBody>
          <a:bodyPr/>
          <a:lstStyle/>
          <a:p>
            <a:r>
              <a:rPr lang="en-US" dirty="0"/>
              <a:t>TIM6/TIM7</a:t>
            </a:r>
          </a:p>
          <a:p>
            <a:r>
              <a:rPr lang="en-US" dirty="0"/>
              <a:t>16-bit count up</a:t>
            </a:r>
          </a:p>
          <a:p>
            <a:r>
              <a:rPr lang="en-US" dirty="0"/>
              <a:t>Overflow flag</a:t>
            </a:r>
          </a:p>
          <a:p>
            <a:r>
              <a:rPr lang="en-US" dirty="0"/>
              <a:t>Triggers the DAC</a:t>
            </a:r>
          </a:p>
        </p:txBody>
      </p:sp>
      <p:sp>
        <p:nvSpPr>
          <p:cNvPr id="4" name="Footer Placeholder 3">
            <a:extLst>
              <a:ext uri="{FF2B5EF4-FFF2-40B4-BE49-F238E27FC236}">
                <a16:creationId xmlns:a16="http://schemas.microsoft.com/office/drawing/2014/main" id="{CA9969F7-8425-439B-BFA6-52683A12CFC1}"/>
              </a:ext>
            </a:extLst>
          </p:cNvPr>
          <p:cNvSpPr>
            <a:spLocks noGrp="1"/>
          </p:cNvSpPr>
          <p:nvPr>
            <p:ph type="ftr" sz="quarter" idx="11"/>
          </p:nvPr>
        </p:nvSpPr>
        <p:spPr/>
        <p:txBody>
          <a:bodyPr/>
          <a:lstStyle/>
          <a:p>
            <a:r>
              <a:rPr lang="en-US" dirty="0"/>
              <a:t>ECE433/533 Boise State University - 2025 - Fady</a:t>
            </a:r>
          </a:p>
        </p:txBody>
      </p:sp>
      <p:pic>
        <p:nvPicPr>
          <p:cNvPr id="8" name="Picture 7">
            <a:extLst>
              <a:ext uri="{FF2B5EF4-FFF2-40B4-BE49-F238E27FC236}">
                <a16:creationId xmlns:a16="http://schemas.microsoft.com/office/drawing/2014/main" id="{E0B8A89E-6067-443B-8D9F-B1BFD29FED04}"/>
              </a:ext>
            </a:extLst>
          </p:cNvPr>
          <p:cNvPicPr>
            <a:picLocks noChangeAspect="1"/>
          </p:cNvPicPr>
          <p:nvPr/>
        </p:nvPicPr>
        <p:blipFill>
          <a:blip r:embed="rId2"/>
          <a:stretch>
            <a:fillRect/>
          </a:stretch>
        </p:blipFill>
        <p:spPr>
          <a:xfrm>
            <a:off x="4810109" y="365125"/>
            <a:ext cx="6758782" cy="5665007"/>
          </a:xfrm>
          <a:prstGeom prst="rect">
            <a:avLst/>
          </a:prstGeom>
        </p:spPr>
      </p:pic>
    </p:spTree>
    <p:extLst>
      <p:ext uri="{BB962C8B-B14F-4D97-AF65-F5344CB8AC3E}">
        <p14:creationId xmlns:p14="http://schemas.microsoft.com/office/powerpoint/2010/main" val="1504129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4B7A4-E05B-4E6A-A0C9-31EDB6C89D3B}"/>
              </a:ext>
            </a:extLst>
          </p:cNvPr>
          <p:cNvSpPr>
            <a:spLocks noGrp="1"/>
          </p:cNvSpPr>
          <p:nvPr>
            <p:ph type="title"/>
          </p:nvPr>
        </p:nvSpPr>
        <p:spPr>
          <a:xfrm>
            <a:off x="838200" y="365125"/>
            <a:ext cx="3571875" cy="1325563"/>
          </a:xfrm>
        </p:spPr>
        <p:txBody>
          <a:bodyPr>
            <a:noAutofit/>
          </a:bodyPr>
          <a:lstStyle/>
          <a:p>
            <a:r>
              <a:rPr lang="en-US" sz="3200" dirty="0"/>
              <a:t>Low-Power Timers</a:t>
            </a:r>
          </a:p>
        </p:txBody>
      </p:sp>
      <p:sp>
        <p:nvSpPr>
          <p:cNvPr id="3" name="Content Placeholder 2">
            <a:extLst>
              <a:ext uri="{FF2B5EF4-FFF2-40B4-BE49-F238E27FC236}">
                <a16:creationId xmlns:a16="http://schemas.microsoft.com/office/drawing/2014/main" id="{0EBB18E4-4344-43E4-AAA2-F091E52FD043}"/>
              </a:ext>
            </a:extLst>
          </p:cNvPr>
          <p:cNvSpPr>
            <a:spLocks noGrp="1"/>
          </p:cNvSpPr>
          <p:nvPr>
            <p:ph idx="1"/>
          </p:nvPr>
        </p:nvSpPr>
        <p:spPr>
          <a:xfrm>
            <a:off x="838200" y="1825625"/>
            <a:ext cx="3609958" cy="4351338"/>
          </a:xfrm>
        </p:spPr>
        <p:txBody>
          <a:bodyPr/>
          <a:lstStyle/>
          <a:p>
            <a:r>
              <a:rPr lang="en-US" dirty="0"/>
              <a:t>LPTIM1/2/3</a:t>
            </a:r>
          </a:p>
          <a:p>
            <a:r>
              <a:rPr lang="en-US" dirty="0"/>
              <a:t>16-bit count up</a:t>
            </a:r>
          </a:p>
          <a:p>
            <a:r>
              <a:rPr lang="en-US" dirty="0"/>
              <a:t>Can work in STOP mode with out LP clock running.</a:t>
            </a:r>
          </a:p>
        </p:txBody>
      </p:sp>
      <p:sp>
        <p:nvSpPr>
          <p:cNvPr id="4" name="Footer Placeholder 3">
            <a:extLst>
              <a:ext uri="{FF2B5EF4-FFF2-40B4-BE49-F238E27FC236}">
                <a16:creationId xmlns:a16="http://schemas.microsoft.com/office/drawing/2014/main" id="{CA9969F7-8425-439B-BFA6-52683A12CFC1}"/>
              </a:ext>
            </a:extLst>
          </p:cNvPr>
          <p:cNvSpPr>
            <a:spLocks noGrp="1"/>
          </p:cNvSpPr>
          <p:nvPr>
            <p:ph type="ftr" sz="quarter" idx="11"/>
          </p:nvPr>
        </p:nvSpPr>
        <p:spPr/>
        <p:txBody>
          <a:bodyPr/>
          <a:lstStyle/>
          <a:p>
            <a:r>
              <a:rPr lang="en-US" dirty="0"/>
              <a:t>ECE433/533 Boise State University - 2025 - Fady</a:t>
            </a:r>
          </a:p>
        </p:txBody>
      </p:sp>
      <p:pic>
        <p:nvPicPr>
          <p:cNvPr id="6" name="Picture 5">
            <a:extLst>
              <a:ext uri="{FF2B5EF4-FFF2-40B4-BE49-F238E27FC236}">
                <a16:creationId xmlns:a16="http://schemas.microsoft.com/office/drawing/2014/main" id="{7748E421-57EA-4CC4-88BC-DF5D84738E3F}"/>
              </a:ext>
            </a:extLst>
          </p:cNvPr>
          <p:cNvPicPr>
            <a:picLocks noChangeAspect="1"/>
          </p:cNvPicPr>
          <p:nvPr/>
        </p:nvPicPr>
        <p:blipFill>
          <a:blip r:embed="rId2"/>
          <a:stretch>
            <a:fillRect/>
          </a:stretch>
        </p:blipFill>
        <p:spPr>
          <a:xfrm>
            <a:off x="4038600" y="1096783"/>
            <a:ext cx="8101031" cy="5080180"/>
          </a:xfrm>
          <a:prstGeom prst="rect">
            <a:avLst/>
          </a:prstGeom>
        </p:spPr>
      </p:pic>
    </p:spTree>
    <p:extLst>
      <p:ext uri="{BB962C8B-B14F-4D97-AF65-F5344CB8AC3E}">
        <p14:creationId xmlns:p14="http://schemas.microsoft.com/office/powerpoint/2010/main" val="905438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F9EAB-D1BD-4865-B6BC-868B83595308}"/>
              </a:ext>
            </a:extLst>
          </p:cNvPr>
          <p:cNvSpPr>
            <a:spLocks noGrp="1"/>
          </p:cNvSpPr>
          <p:nvPr>
            <p:ph type="title"/>
          </p:nvPr>
        </p:nvSpPr>
        <p:spPr/>
        <p:txBody>
          <a:bodyPr/>
          <a:lstStyle/>
          <a:p>
            <a:r>
              <a:rPr lang="en-US" dirty="0"/>
              <a:t>Serial Port Plotter</a:t>
            </a:r>
          </a:p>
        </p:txBody>
      </p:sp>
      <p:sp>
        <p:nvSpPr>
          <p:cNvPr id="3" name="Content Placeholder 2">
            <a:extLst>
              <a:ext uri="{FF2B5EF4-FFF2-40B4-BE49-F238E27FC236}">
                <a16:creationId xmlns:a16="http://schemas.microsoft.com/office/drawing/2014/main" id="{D4B74936-FAEC-44C2-B308-443938DC3EBB}"/>
              </a:ext>
            </a:extLst>
          </p:cNvPr>
          <p:cNvSpPr>
            <a:spLocks noGrp="1"/>
          </p:cNvSpPr>
          <p:nvPr>
            <p:ph idx="1"/>
          </p:nvPr>
        </p:nvSpPr>
        <p:spPr>
          <a:xfrm>
            <a:off x="253217" y="1825625"/>
            <a:ext cx="5101949" cy="4351338"/>
          </a:xfrm>
        </p:spPr>
        <p:txBody>
          <a:bodyPr>
            <a:normAutofit/>
          </a:bodyPr>
          <a:lstStyle/>
          <a:p>
            <a:pPr marL="0" indent="0">
              <a:buNone/>
            </a:pPr>
            <a:r>
              <a:rPr lang="en-US" sz="2400" dirty="0"/>
              <a:t>Download the tool:</a:t>
            </a:r>
          </a:p>
          <a:p>
            <a:pPr marL="457200" lvl="1" indent="0">
              <a:buNone/>
            </a:pPr>
            <a:r>
              <a:rPr lang="en-US" sz="1400" dirty="0">
                <a:hlinkClick r:id="rId2"/>
              </a:rPr>
              <a:t>https://github.com/CieNTi/serial_port_plotter/releases</a:t>
            </a:r>
            <a:endParaRPr lang="en-US" sz="1400" dirty="0"/>
          </a:p>
          <a:p>
            <a:endParaRPr lang="en-US" dirty="0"/>
          </a:p>
          <a:p>
            <a:endParaRPr lang="en-US" dirty="0"/>
          </a:p>
          <a:p>
            <a:r>
              <a:rPr lang="en-US" dirty="0"/>
              <a:t>Comprehensive Training:</a:t>
            </a:r>
          </a:p>
          <a:p>
            <a:pPr marL="457200" lvl="1" indent="0">
              <a:buNone/>
            </a:pPr>
            <a:r>
              <a:rPr lang="en-US" sz="1400" dirty="0">
                <a:hlinkClick r:id="rId3"/>
              </a:rPr>
              <a:t>https://st-onlinetraining.s3.amazonaws.com/STM32L5-WDG_TIMERS-General_Purpose_Timer_GPTIM/index.html</a:t>
            </a:r>
            <a:endParaRPr lang="en-US" sz="1400" dirty="0"/>
          </a:p>
          <a:p>
            <a:pPr marL="0" indent="0">
              <a:buNone/>
            </a:pPr>
            <a:endParaRPr lang="en-US" dirty="0"/>
          </a:p>
        </p:txBody>
      </p:sp>
      <p:sp>
        <p:nvSpPr>
          <p:cNvPr id="4" name="Footer Placeholder 3">
            <a:extLst>
              <a:ext uri="{FF2B5EF4-FFF2-40B4-BE49-F238E27FC236}">
                <a16:creationId xmlns:a16="http://schemas.microsoft.com/office/drawing/2014/main" id="{696981C1-26F6-451B-9F53-43681FFCCA7D}"/>
              </a:ext>
            </a:extLst>
          </p:cNvPr>
          <p:cNvSpPr>
            <a:spLocks noGrp="1"/>
          </p:cNvSpPr>
          <p:nvPr>
            <p:ph type="ftr" sz="quarter" idx="11"/>
          </p:nvPr>
        </p:nvSpPr>
        <p:spPr/>
        <p:txBody>
          <a:bodyPr/>
          <a:lstStyle/>
          <a:p>
            <a:r>
              <a:rPr lang="en-US" dirty="0"/>
              <a:t>ECE433/533 Boise State University - 2025 - Fady</a:t>
            </a:r>
          </a:p>
        </p:txBody>
      </p:sp>
      <p:pic>
        <p:nvPicPr>
          <p:cNvPr id="6" name="Picture 5">
            <a:extLst>
              <a:ext uri="{FF2B5EF4-FFF2-40B4-BE49-F238E27FC236}">
                <a16:creationId xmlns:a16="http://schemas.microsoft.com/office/drawing/2014/main" id="{A2F31FE1-F54E-45BD-BBB7-8C10A0EA4135}"/>
              </a:ext>
            </a:extLst>
          </p:cNvPr>
          <p:cNvPicPr>
            <a:picLocks noChangeAspect="1"/>
          </p:cNvPicPr>
          <p:nvPr/>
        </p:nvPicPr>
        <p:blipFill>
          <a:blip r:embed="rId4"/>
          <a:stretch>
            <a:fillRect/>
          </a:stretch>
        </p:blipFill>
        <p:spPr>
          <a:xfrm>
            <a:off x="5435600" y="1244315"/>
            <a:ext cx="6827698" cy="4955835"/>
          </a:xfrm>
          <a:prstGeom prst="rect">
            <a:avLst/>
          </a:prstGeom>
        </p:spPr>
      </p:pic>
    </p:spTree>
    <p:extLst>
      <p:ext uri="{BB962C8B-B14F-4D97-AF65-F5344CB8AC3E}">
        <p14:creationId xmlns:p14="http://schemas.microsoft.com/office/powerpoint/2010/main" val="3373606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2D8FA-64B2-1DDC-8B3A-E302020F0442}"/>
              </a:ext>
            </a:extLst>
          </p:cNvPr>
          <p:cNvSpPr>
            <a:spLocks noGrp="1"/>
          </p:cNvSpPr>
          <p:nvPr>
            <p:ph type="title"/>
          </p:nvPr>
        </p:nvSpPr>
        <p:spPr>
          <a:xfrm>
            <a:off x="838200" y="365125"/>
            <a:ext cx="3749211" cy="1325563"/>
          </a:xfrm>
        </p:spPr>
        <p:txBody>
          <a:bodyPr/>
          <a:lstStyle/>
          <a:p>
            <a:r>
              <a:rPr lang="en-US" dirty="0"/>
              <a:t>Reg Map:</a:t>
            </a:r>
          </a:p>
        </p:txBody>
      </p:sp>
      <p:pic>
        <p:nvPicPr>
          <p:cNvPr id="6" name="Content Placeholder 5">
            <a:extLst>
              <a:ext uri="{FF2B5EF4-FFF2-40B4-BE49-F238E27FC236}">
                <a16:creationId xmlns:a16="http://schemas.microsoft.com/office/drawing/2014/main" id="{3D0D3DBE-2BCC-1B92-84A6-14C80F145620}"/>
              </a:ext>
            </a:extLst>
          </p:cNvPr>
          <p:cNvPicPr>
            <a:picLocks noGrp="1" noChangeAspect="1"/>
          </p:cNvPicPr>
          <p:nvPr>
            <p:ph idx="1"/>
          </p:nvPr>
        </p:nvPicPr>
        <p:blipFill>
          <a:blip r:embed="rId2"/>
          <a:stretch>
            <a:fillRect/>
          </a:stretch>
        </p:blipFill>
        <p:spPr>
          <a:xfrm>
            <a:off x="5853991" y="0"/>
            <a:ext cx="5588290" cy="6858000"/>
          </a:xfrm>
        </p:spPr>
      </p:pic>
    </p:spTree>
    <p:extLst>
      <p:ext uri="{BB962C8B-B14F-4D97-AF65-F5344CB8AC3E}">
        <p14:creationId xmlns:p14="http://schemas.microsoft.com/office/powerpoint/2010/main" val="1108730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8D6DF-9A7B-AAB0-D89A-F9F372034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B87F01-21C4-A2BA-42E6-3FE9D24E2CE7}"/>
              </a:ext>
            </a:extLst>
          </p:cNvPr>
          <p:cNvSpPr>
            <a:spLocks noGrp="1"/>
          </p:cNvSpPr>
          <p:nvPr>
            <p:ph type="title"/>
          </p:nvPr>
        </p:nvSpPr>
        <p:spPr>
          <a:xfrm>
            <a:off x="838200" y="365125"/>
            <a:ext cx="3749211" cy="1325563"/>
          </a:xfrm>
        </p:spPr>
        <p:txBody>
          <a:bodyPr/>
          <a:lstStyle/>
          <a:p>
            <a:r>
              <a:rPr lang="en-US" dirty="0"/>
              <a:t>Reg Map:</a:t>
            </a:r>
          </a:p>
        </p:txBody>
      </p:sp>
      <p:pic>
        <p:nvPicPr>
          <p:cNvPr id="7" name="Content Placeholder 6">
            <a:extLst>
              <a:ext uri="{FF2B5EF4-FFF2-40B4-BE49-F238E27FC236}">
                <a16:creationId xmlns:a16="http://schemas.microsoft.com/office/drawing/2014/main" id="{710FA3E4-DCAF-047E-336C-C6424B1B1A7D}"/>
              </a:ext>
            </a:extLst>
          </p:cNvPr>
          <p:cNvPicPr>
            <a:picLocks noGrp="1" noChangeAspect="1"/>
          </p:cNvPicPr>
          <p:nvPr>
            <p:ph idx="1"/>
          </p:nvPr>
        </p:nvPicPr>
        <p:blipFill>
          <a:blip r:embed="rId2"/>
          <a:stretch>
            <a:fillRect/>
          </a:stretch>
        </p:blipFill>
        <p:spPr>
          <a:xfrm>
            <a:off x="5723824" y="0"/>
            <a:ext cx="5561384" cy="6858000"/>
          </a:xfrm>
        </p:spPr>
      </p:pic>
    </p:spTree>
    <p:extLst>
      <p:ext uri="{BB962C8B-B14F-4D97-AF65-F5344CB8AC3E}">
        <p14:creationId xmlns:p14="http://schemas.microsoft.com/office/powerpoint/2010/main" val="42198446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37862</TotalTime>
  <Words>1454</Words>
  <Application>Microsoft Office PowerPoint</Application>
  <PresentationFormat>Widescreen</PresentationFormat>
  <Paragraphs>198</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Consolas</vt:lpstr>
      <vt:lpstr>Office Theme</vt:lpstr>
      <vt:lpstr>Communication Counters, Timers and PWM</vt:lpstr>
      <vt:lpstr>What can you do with a counter?</vt:lpstr>
      <vt:lpstr>STM32L552 Timers</vt:lpstr>
      <vt:lpstr>SysTick</vt:lpstr>
      <vt:lpstr>Standard General-Purpose Timers</vt:lpstr>
      <vt:lpstr>Timer Registers</vt:lpstr>
      <vt:lpstr>1- As a timer</vt:lpstr>
      <vt:lpstr>2- As a Counter Starting on ext. input signal </vt:lpstr>
      <vt:lpstr>2- As a Counter of ext. input signal </vt:lpstr>
      <vt:lpstr>TIMx-&gt;CCMR</vt:lpstr>
      <vt:lpstr>3- As Frequency Generator</vt:lpstr>
      <vt:lpstr>Pulse Width Modulation</vt:lpstr>
      <vt:lpstr>4- PWM  - Edge aligned</vt:lpstr>
      <vt:lpstr>5- PWM  - Center aligned</vt:lpstr>
      <vt:lpstr>Basic Timers</vt:lpstr>
      <vt:lpstr>Low-Power Timers</vt:lpstr>
      <vt:lpstr>Serial Port Plotter</vt:lpstr>
      <vt:lpstr>Reg Map:</vt:lpstr>
      <vt:lpstr>Reg 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&amp; Portable Computing Systems  (ECE433/ECC533)</dc:title>
  <dc:creator>Fady Hussein</dc:creator>
  <cp:lastModifiedBy>Fady Hussein</cp:lastModifiedBy>
  <cp:revision>134</cp:revision>
  <dcterms:created xsi:type="dcterms:W3CDTF">2019-01-12T15:06:13Z</dcterms:created>
  <dcterms:modified xsi:type="dcterms:W3CDTF">2025-02-09T19:11:39Z</dcterms:modified>
</cp:coreProperties>
</file>