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5" r:id="rId3"/>
    <p:sldId id="269" r:id="rId4"/>
    <p:sldId id="271" r:id="rId5"/>
    <p:sldId id="272" r:id="rId6"/>
    <p:sldId id="273" r:id="rId7"/>
    <p:sldId id="274" r:id="rId8"/>
    <p:sldId id="276" r:id="rId9"/>
    <p:sldId id="277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4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C0C2E9-422E-42CD-B27D-E8560BB427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0F180-3836-40F6-966E-6D882E5660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EDED-9CBC-40D7-AFB3-DE25A4B18409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1A337-59F9-4758-9286-1FB9E1E62F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9131F-052D-4B5F-9206-20BDDC2477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7A1C3-4B56-4049-A087-B62417EF5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251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680BD-9FDF-4482-9569-61AAE8D56E1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63173-2355-40E1-92B6-6E8808A39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551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9551-CD0E-4DB4-BBC7-C2AE4FA58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95734-53B5-44E0-B7B6-89EFCC08B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A762-7598-43DC-8DBD-59AB1371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5AB7-8307-4D83-AA01-8B9BC4D2EF92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B9EB5-669A-4CA7-80FF-95D11DDA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529E8-71B2-46B0-958D-7BB6B75D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3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F28E-EF58-402A-8EBD-601A24D5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F14B-852E-4832-A1CB-60771C06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F422-BBB5-484D-90E5-FD43067BC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9FE9-99AC-416C-89AD-A42126813D4A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03BE-E654-4A46-9778-22E1498B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B6FB2-29AD-4871-9627-5B8CD37D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3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A594-51F9-4BE8-AC15-8F8DC4F34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32669-552F-4A7C-87B4-4BEA311ED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5EB5-D3A3-406B-A71F-C758D118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0493-5313-452F-AE4A-33BC12E76F21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2BBB4-8BC0-48D5-8CCA-05D48031C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8A78A-BD0D-41E9-957B-A4B347BA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90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B3E6-1D46-4BC9-AA90-485DF1B4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F48E-DE53-4DF1-AB74-A5B33D458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F0CB3-0534-4F9F-A7F0-FC7C7BEAD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63788-80BF-4C6D-B00B-1B01A557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C70A0-8887-4205-BE69-B353A84703BD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CF24E-DFE6-4233-A132-B6A49448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66E22-2A80-45DB-B32F-85A67D0E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5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F934-ECF9-40F0-98B9-6D002EC8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CC41A-23D8-46B8-9F68-2B2940A38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E36BD-C302-4F58-9112-F1E567557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D9BE2-056E-4A53-8520-1DFBCC49E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BB1BA-1233-4B08-8DEC-E2894EBCE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C7895-5FE9-4C13-B466-1AEE3DE0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9E4D4-64B6-4334-8AE1-0366973ACFAE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394A4-0CD6-469F-9A62-D539D586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C3949-28A5-46D8-ABAF-FE383621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3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72BA-9BE9-482E-9390-1C247B87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6376A2-7528-41FB-8AA0-5C85AAA4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284E-3751-4722-ABB8-BD6AED1BA864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98027-5F6B-4CCA-BB43-A242521C7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409D2-8830-4ADB-A9DB-36C2AA34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0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34B9D-0733-4BC0-8B2F-4721EEB7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E8A54-49C1-41CB-97DA-1F85D23D117E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73643-DFB7-4291-903A-39A1A821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F7A0F-9D98-4482-978B-DED1C574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0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9ABA-8B26-4854-B37F-A54F5351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6DB3D-C17F-4828-9535-7B1CD424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AD83F-9687-4378-B4AE-8E26E83B5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678BA-DA18-4C62-9E8D-8A559A18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EA5D7-C6B1-4555-8807-05FCD654FC98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F04ED-77D9-49DB-8137-459B0ABB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89F5B-B601-4B06-94EC-D79A927F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EB31-D4CF-42BE-9246-8EB2881B3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2EBE5-02BC-4400-B0F2-5A80B6629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E62C4-2A96-4B3B-92AE-847BE3DAF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25064-E5D2-456A-89D2-0A49928E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6C7D2-A209-4397-8571-D18D66DFFF52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DBFA5-E959-45CA-8D2C-8960D21C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CA5AD-0DDF-41D7-B50C-0F622B7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2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4331-46FD-4513-8024-CB60D4BE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BEF20-D7A4-46EB-9302-82DB29A42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EDBFE-BB48-4112-AAB1-75EC5749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B6211-578F-46C8-A47C-C9D9F40AB7B2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BD716-2843-409A-B6FD-0116AC4E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5405E-40DF-4413-A41A-662A1546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3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34969-FF60-42B1-AB98-D03350180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FB05D-6650-41F1-AAE5-567E6DAF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1204-5D12-491E-AEDF-28E8B194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F0F9D-25F3-44CC-B5B0-8B149846CDBE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AD92-145F-47DD-BC2E-BE22F27F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79468-A0BF-4F5E-83D8-B77884B8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3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75A66-6083-4F0B-A613-7D8AF39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8B137-E2D4-4C7C-BECB-79590BFA5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38698-FA53-4805-BC33-12461DB66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0E1FA-A3E1-4984-98B9-3FCA8E8E1B6D}" type="datetime1">
              <a:rPr lang="en-US" smtClean="0"/>
              <a:t>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BB58A-A274-4177-B6B7-11F85F6E3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ECE433/533 Boise State University - 2025 - Fady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92748-E4BF-4AFD-B0D6-951945B73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04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.com/content/ccc/resource/training/technical/product_training/group1/61/35/d2/07/34/6f/4e/83/STM32L5-System-Nested_Vectored_Interrupt_Control_NVIC/files/STM32L5-System-Nested_Vectored_Interrupt_Control_NVIC.pdf/_jcr_content/translations/en.STM32L5-System-Nested_Vectored_Interrupt_Control_NVIC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3F1C5-E83F-45E8-934F-45D6D0A9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724530D-987C-43F7-938F-1FCF3C5BC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8514" y="1122363"/>
            <a:ext cx="6587413" cy="2387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Interrupts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23C3D5D-C92F-4533-99A1-F608DFA38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8512" y="3602038"/>
            <a:ext cx="6587415" cy="885986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ECE433/ECC533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45CA05-AAA1-4B89-9E32-AFB9BE60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</p:spTree>
    <p:extLst>
      <p:ext uri="{BB962C8B-B14F-4D97-AF65-F5344CB8AC3E}">
        <p14:creationId xmlns:p14="http://schemas.microsoft.com/office/powerpoint/2010/main" val="180740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CE49-1B2B-47E5-8587-2506A7F4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slides by 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D86AE-506B-423D-A312-A829A769F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Slides link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7C34B-1A75-47AB-A1EA-9AA88A61A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</p:spTree>
    <p:extLst>
      <p:ext uri="{BB962C8B-B14F-4D97-AF65-F5344CB8AC3E}">
        <p14:creationId xmlns:p14="http://schemas.microsoft.com/office/powerpoint/2010/main" val="172626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30D1-5145-4531-A56B-88D57D61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3691597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Interrupt Blocks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59E30-0CC5-40C4-A1D3-1FDAC97A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09881-0A42-40A7-BFF5-EB14E2F05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276" y="0"/>
            <a:ext cx="5387888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BCBD535-E06B-4A3B-ACE9-71798E351937}"/>
              </a:ext>
            </a:extLst>
          </p:cNvPr>
          <p:cNvSpPr/>
          <p:nvPr/>
        </p:nvSpPr>
        <p:spPr>
          <a:xfrm>
            <a:off x="7800975" y="5068993"/>
            <a:ext cx="704850" cy="716280"/>
          </a:xfrm>
          <a:prstGeom prst="ellipse">
            <a:avLst/>
          </a:prstGeom>
          <a:solidFill>
            <a:srgbClr val="FFC000">
              <a:alpha val="12941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896BF0-9457-4E81-BDAB-95EDE516CD91}"/>
              </a:ext>
            </a:extLst>
          </p:cNvPr>
          <p:cNvSpPr/>
          <p:nvPr/>
        </p:nvSpPr>
        <p:spPr>
          <a:xfrm>
            <a:off x="7203644" y="553877"/>
            <a:ext cx="518160" cy="419100"/>
          </a:xfrm>
          <a:prstGeom prst="ellipse">
            <a:avLst/>
          </a:prstGeom>
          <a:solidFill>
            <a:srgbClr val="FFC000">
              <a:alpha val="12941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483C64-65BA-4381-9DD4-5530CDD4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2076449"/>
            <a:ext cx="4648202" cy="3635693"/>
          </a:xfrm>
        </p:spPr>
        <p:txBody>
          <a:bodyPr>
            <a:normAutofit/>
          </a:bodyPr>
          <a:lstStyle/>
          <a:p>
            <a:r>
              <a:rPr lang="en-US" sz="1800" dirty="0"/>
              <a:t>Nested Vectored Interrupt Controller (NVIC)</a:t>
            </a:r>
          </a:p>
          <a:p>
            <a:r>
              <a:rPr lang="en-US" sz="1800" dirty="0"/>
              <a:t>System Configuration Controller (SYSCFG)</a:t>
            </a:r>
          </a:p>
          <a:p>
            <a:r>
              <a:rPr lang="en-US" sz="1800" dirty="0"/>
              <a:t>Extended Interrupt (EXTI)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32EC1B-3EC9-3F1A-628E-2B30F292CEF8}"/>
              </a:ext>
            </a:extLst>
          </p:cNvPr>
          <p:cNvSpPr/>
          <p:nvPr/>
        </p:nvSpPr>
        <p:spPr>
          <a:xfrm>
            <a:off x="6994185" y="3195959"/>
            <a:ext cx="518160" cy="419100"/>
          </a:xfrm>
          <a:prstGeom prst="ellipse">
            <a:avLst/>
          </a:prstGeom>
          <a:solidFill>
            <a:srgbClr val="FFC000">
              <a:alpha val="12941"/>
            </a:srgb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6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5355-1E61-438D-844E-87BBEBE5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191125" cy="1325563"/>
          </a:xfrm>
        </p:spPr>
        <p:txBody>
          <a:bodyPr/>
          <a:lstStyle/>
          <a:p>
            <a:r>
              <a:rPr lang="en-US" dirty="0"/>
              <a:t>Interrupt Vector Table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05A1-2BCA-4BD4-B6FB-3D9981B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112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7A70F-F8ED-4EFF-AD9C-FE19630E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D2869-3C9A-4A18-AFA6-452403B6A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236" y="0"/>
            <a:ext cx="5654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8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5355-1E61-438D-844E-87BBEBE5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191125" cy="1325563"/>
          </a:xfrm>
        </p:spPr>
        <p:txBody>
          <a:bodyPr/>
          <a:lstStyle/>
          <a:p>
            <a:r>
              <a:rPr lang="en-US" dirty="0"/>
              <a:t>Interrupt Vector Table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05A1-2BCA-4BD4-B6FB-3D9981B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112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7A70F-F8ED-4EFF-AD9C-FE19630E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4DDB0-DEDD-4A58-9E33-B641DBB8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688" y="0"/>
            <a:ext cx="5111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3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5355-1E61-438D-844E-87BBEBE5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191125" cy="1325563"/>
          </a:xfrm>
        </p:spPr>
        <p:txBody>
          <a:bodyPr/>
          <a:lstStyle/>
          <a:p>
            <a:r>
              <a:rPr lang="en-US" dirty="0"/>
              <a:t>Interrupt Vector Table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05A1-2BCA-4BD4-B6FB-3D9981B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112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7A70F-F8ED-4EFF-AD9C-FE19630E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7F691-076A-4819-92F3-D4B23655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616" y="42862"/>
            <a:ext cx="5162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0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5355-1E61-438D-844E-87BBEBE5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191125" cy="1325563"/>
          </a:xfrm>
        </p:spPr>
        <p:txBody>
          <a:bodyPr/>
          <a:lstStyle/>
          <a:p>
            <a:r>
              <a:rPr lang="en-US" dirty="0"/>
              <a:t>Interrupt Vector Table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005A1-2BCA-4BD4-B6FB-3D9981B7A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112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7A70F-F8ED-4EFF-AD9C-FE19630E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BD5B6D-D7C6-427C-A677-AC78B8917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511" y="0"/>
            <a:ext cx="5168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6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0C2D880-DEB2-4A01-ABEA-563C21EE2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415" y="1793269"/>
            <a:ext cx="6086585" cy="456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66CBDD-C9F9-4931-B981-EC9AB68B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19" y="365125"/>
            <a:ext cx="7300609" cy="1325563"/>
          </a:xfrm>
        </p:spPr>
        <p:txBody>
          <a:bodyPr/>
          <a:lstStyle/>
          <a:p>
            <a:r>
              <a:rPr lang="en-US" dirty="0"/>
              <a:t>Using External Interrupt (EXTI)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81C89-24CD-4101-80AD-5DD830D31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96" y="1391055"/>
            <a:ext cx="6211969" cy="544210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Enable GPIO as input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Enable Clock to SYSCFG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Select Input Using EXTI-&gt;EXTICR[x]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Select Trigger type (Failing or Raising Edge)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Disable Interrupt Mask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Setup Interrupt Priority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Enable IRQ in NVIC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Enable Global Interrupt Flag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Define Interrupt Service Routine (ISR)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 ISR, clear flag in Falling/Raising Pending Register by writing 1 to 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61F27-FFFD-4B42-B7C0-78B53665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375C2-D443-72CD-5A3E-1AE00F410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850" y="63752"/>
            <a:ext cx="3573604" cy="148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2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144FD-C4DD-468D-A617-F94C27B8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66B36-4E04-48DA-A3BB-955490F51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Priority field has 8 bit but only 3 MSB are used.</a:t>
            </a:r>
          </a:p>
          <a:p>
            <a:r>
              <a:rPr lang="en-US" dirty="0"/>
              <a:t>Global interrupt flag seems to be enabled by default (I bit in </a:t>
            </a:r>
            <a:r>
              <a:rPr lang="en-US" dirty="0" err="1"/>
              <a:t>xPSR</a:t>
            </a:r>
            <a:r>
              <a:rPr lang="en-US" dirty="0"/>
              <a:t>)</a:t>
            </a:r>
          </a:p>
          <a:p>
            <a:r>
              <a:rPr lang="en-US" dirty="0"/>
              <a:t>EXTI interrupt </a:t>
            </a:r>
            <a:r>
              <a:rPr lang="en-US" dirty="0">
                <a:solidFill>
                  <a:srgbClr val="FF0000"/>
                </a:solidFill>
              </a:rPr>
              <a:t>must be manually cleared </a:t>
            </a:r>
            <a:r>
              <a:rPr lang="en-US" dirty="0"/>
              <a:t>after ISR is called (by writing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to the Falling/Raising Pending Register, e.g., EXTI-&gt;</a:t>
            </a:r>
            <a:r>
              <a:rPr lang="en-US" dirty="0" err="1"/>
              <a:t>FPRx</a:t>
            </a:r>
            <a:r>
              <a:rPr lang="en-US" dirty="0"/>
              <a:t>)</a:t>
            </a:r>
          </a:p>
          <a:p>
            <a:r>
              <a:rPr lang="en-US" dirty="0"/>
              <a:t>One Interrupt handler could serve more than one flag (event), hence it is a good practice to verify the event that cause the ISR to be called.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CBD8A-E1AC-48D0-B4D0-B954AB1B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ECE433/533 Boise State University - 2025 - Fady</a:t>
            </a:r>
          </a:p>
        </p:txBody>
      </p:sp>
    </p:spTree>
    <p:extLst>
      <p:ext uri="{BB962C8B-B14F-4D97-AF65-F5344CB8AC3E}">
        <p14:creationId xmlns:p14="http://schemas.microsoft.com/office/powerpoint/2010/main" val="85080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DAA27-2602-7FA6-F204-F7395FC5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D3E0C-9C96-9B33-EC93-D1FF0189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93" y="2206428"/>
            <a:ext cx="8289960" cy="4566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6A1186-77CF-56C4-4C83-7D3CCAAD0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048" y="74064"/>
            <a:ext cx="8265105" cy="2033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31FAC0F3-37C1-4527-9D01-34073C7B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84400" cy="1325563"/>
          </a:xfrm>
        </p:spPr>
        <p:txBody>
          <a:bodyPr/>
          <a:lstStyle/>
          <a:p>
            <a:r>
              <a:rPr lang="en-US" dirty="0"/>
              <a:t>EXTI Reg Map:</a:t>
            </a:r>
          </a:p>
        </p:txBody>
      </p:sp>
    </p:spTree>
    <p:extLst>
      <p:ext uri="{BB962C8B-B14F-4D97-AF65-F5344CB8AC3E}">
        <p14:creationId xmlns:p14="http://schemas.microsoft.com/office/powerpoint/2010/main" val="130456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AF929-497C-437D-42F1-692BA86C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F70B1-BFB9-CC34-26BA-9A55073D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ECE433/533 Boise State University - 2025 - Fady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99997-5D22-DFFA-5DBB-0D03C42CB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617" y="0"/>
            <a:ext cx="75182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706979-E20E-D2E3-56F6-980095E6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84400" cy="1325563"/>
          </a:xfrm>
        </p:spPr>
        <p:txBody>
          <a:bodyPr/>
          <a:lstStyle/>
          <a:p>
            <a:r>
              <a:rPr lang="en-US" dirty="0"/>
              <a:t>EXTI Reg Map:</a:t>
            </a:r>
          </a:p>
        </p:txBody>
      </p:sp>
    </p:spTree>
    <p:extLst>
      <p:ext uri="{BB962C8B-B14F-4D97-AF65-F5344CB8AC3E}">
        <p14:creationId xmlns:p14="http://schemas.microsoft.com/office/powerpoint/2010/main" val="371462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21377</TotalTime>
  <Words>309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Interrupts</vt:lpstr>
      <vt:lpstr>External slides by STM</vt:lpstr>
      <vt:lpstr>Interrupt Blocks</vt:lpstr>
      <vt:lpstr>Interrupt Vector Table (1/4)</vt:lpstr>
      <vt:lpstr>Interrupt Vector Table (2/4)</vt:lpstr>
      <vt:lpstr>Interrupt Vector Table (3/4)</vt:lpstr>
      <vt:lpstr>Interrupt Vector Table (4/4)</vt:lpstr>
      <vt:lpstr>Using External Interrupt (EXTI) </vt:lpstr>
      <vt:lpstr>Notes:</vt:lpstr>
      <vt:lpstr>EXTI Reg Map:</vt:lpstr>
      <vt:lpstr>EXTI Reg Map: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&amp; Portable Computing Systems  (ECE433/ECC533)</dc:title>
  <dc:creator>Fady Hussein</dc:creator>
  <cp:lastModifiedBy>Fady Hussein</cp:lastModifiedBy>
  <cp:revision>127</cp:revision>
  <dcterms:created xsi:type="dcterms:W3CDTF">2019-01-12T15:06:13Z</dcterms:created>
  <dcterms:modified xsi:type="dcterms:W3CDTF">2025-02-16T20:47:12Z</dcterms:modified>
</cp:coreProperties>
</file>