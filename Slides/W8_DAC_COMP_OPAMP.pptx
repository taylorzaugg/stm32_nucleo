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63" r:id="rId4"/>
    <p:sldId id="260" r:id="rId5"/>
    <p:sldId id="258" r:id="rId6"/>
    <p:sldId id="264" r:id="rId7"/>
    <p:sldId id="261" r:id="rId8"/>
    <p:sldId id="259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4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6C0C2E9-422E-42CD-B27D-E8560BB427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70F180-3836-40F6-966E-6D882E5660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7EDED-9CBC-40D7-AFB3-DE25A4B18409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1A337-59F9-4758-9286-1FB9E1E62F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99131F-052D-4B5F-9206-20BDDC2477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27A1C3-4B56-4049-A087-B62417EF5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251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680BD-9FDF-4482-9569-61AAE8D56E1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63173-2355-40E1-92B6-6E8808A3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551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49551-CD0E-4DB4-BBC7-C2AE4FA58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95734-53B5-44E0-B7B6-89EFCC08B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8A762-7598-43DC-8DBD-59AB1371F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D5AB7-8307-4D83-AA01-8B9BC4D2EF92}" type="datetime1">
              <a:rPr lang="en-US" smtClean="0"/>
              <a:t>3/2/2025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B9EB5-669A-4CA7-80FF-95D11DDA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529E8-71B2-46B0-958D-7BB6B75DA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03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DF28E-EF58-402A-8EBD-601A24D5F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AF14B-852E-4832-A1CB-60771C06C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6F422-BBB5-484D-90E5-FD43067BC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19FE9-99AC-416C-89AD-A42126813D4A}" type="datetime1">
              <a:rPr lang="en-US" smtClean="0"/>
              <a:t>3/2/2025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303BE-E654-4A46-9778-22E1498BC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B6FB2-29AD-4871-9627-5B8CD37D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33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EA594-51F9-4BE8-AC15-8F8DC4F34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32669-552F-4A7C-87B4-4BEA311ED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15EB5-D3A3-406B-A71F-C758D1180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C0493-5313-452F-AE4A-33BC12E76F21}" type="datetime1">
              <a:rPr lang="en-US" smtClean="0"/>
              <a:t>3/2/2025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2BBB4-8BC0-48D5-8CCA-05D48031C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8A78A-BD0D-41E9-957B-A4B347BAA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390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B3E6-1D46-4BC9-AA90-485DF1B44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9F48E-DE53-4DF1-AB74-A5B33D458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F0CB3-0534-4F9F-A7F0-FC7C7BEAD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63788-80BF-4C6D-B00B-1B01A5573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C70A0-8887-4205-BE69-B353A84703BD}" type="datetime1">
              <a:rPr lang="en-US" smtClean="0"/>
              <a:t>3/2/2025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CF24E-DFE6-4233-A132-B6A494486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66E22-2A80-45DB-B32F-85A67D0E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45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F934-ECF9-40F0-98B9-6D002EC86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CC41A-23D8-46B8-9F68-2B2940A38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E36BD-C302-4F58-9112-F1E567557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0D9BE2-056E-4A53-8520-1DFBCC49E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CBB1BA-1233-4B08-8DEC-E2894EBCE8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DC7895-5FE9-4C13-B466-1AEE3DE0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9E4D4-64B6-4334-8AE1-0366973ACFAE}" type="datetime1">
              <a:rPr lang="en-US" smtClean="0"/>
              <a:t>3/2/2025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A394A4-0CD6-469F-9A62-D539D5864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5C3949-28A5-46D8-ABAF-FE383621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43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B72BA-9BE9-482E-9390-1C247B876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6376A2-7528-41FB-8AA0-5C85AAA4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0284E-3751-4722-ABB8-BD6AED1BA864}" type="datetime1">
              <a:rPr lang="en-US" smtClean="0"/>
              <a:t>3/2/2025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98027-5F6B-4CCA-BB43-A242521C7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409D2-8830-4ADB-A9DB-36C2AA34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50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134B9D-0733-4BC0-8B2F-4721EEB7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8A54-49C1-41CB-97DA-1F85D23D117E}" type="datetime1">
              <a:rPr lang="en-US" smtClean="0"/>
              <a:t>3/2/2025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73643-DFB7-4291-903A-39A1A8212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F7A0F-9D98-4482-978B-DED1C574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701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9ABA-8B26-4854-B37F-A54F5351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6DB3D-C17F-4828-9535-7B1CD424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AD83F-9687-4378-B4AE-8E26E83B5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678BA-DA18-4C62-9E8D-8A559A183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EA5D7-C6B1-4555-8807-05FCD654FC98}" type="datetime1">
              <a:rPr lang="en-US" smtClean="0"/>
              <a:t>3/2/2025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F04ED-77D9-49DB-8137-459B0ABB8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89F5B-B601-4B06-94EC-D79A927F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07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EB31-D4CF-42BE-9246-8EB2881B3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D2EBE5-02BC-4400-B0F2-5A80B6629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E62C4-2A96-4B3B-92AE-847BE3DAF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25064-E5D2-456A-89D2-0A49928EC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6C7D2-A209-4397-8571-D18D66DFFF52}" type="datetime1">
              <a:rPr lang="en-US" smtClean="0"/>
              <a:t>3/2/2025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DBFA5-E959-45CA-8D2C-8960D21C2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CA5AD-0DDF-41D7-B50C-0F622B7D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628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B4331-46FD-4513-8024-CB60D4BE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BEF20-D7A4-46EB-9302-82DB29A42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EDBFE-BB48-4112-AAB1-75EC57492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B6211-578F-46C8-A47C-C9D9F40AB7B2}" type="datetime1">
              <a:rPr lang="en-US" smtClean="0"/>
              <a:t>3/2/2025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BD716-2843-409A-B6FD-0116AC4E0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5405E-40DF-4413-A41A-662A15467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33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34969-FF60-42B1-AB98-D033501807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FB05D-6650-41F1-AAE5-567E6DAF1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A1204-5D12-491E-AEDF-28E8B1949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F0F9D-25F3-44CC-B5B0-8B149846CDBE}" type="datetime1">
              <a:rPr lang="en-US" smtClean="0"/>
              <a:t>3/2/2025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DAD92-145F-47DD-BC2E-BE22F27F2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79468-A0BF-4F5E-83D8-B77884B8D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93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75A66-6083-4F0B-A613-7D8AF39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8B137-E2D4-4C7C-BECB-79590BFA5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38698-FA53-4805-BC33-12461DB66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0E1FA-A3E1-4984-98B9-3FCA8E8E1B6D}" type="datetime1">
              <a:rPr lang="en-US" smtClean="0"/>
              <a:t>3/2/2025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BB58A-A274-4177-B6B7-11F85F6E3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92748-E4BF-4AFD-B0D6-951945B73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04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GoTCO020ec" TargetMode="External"/><Relationship Id="rId2" Type="http://schemas.openxmlformats.org/officeDocument/2006/relationships/hyperlink" Target="https://www.st.com/content/ccc/resource/training/technical/product_training/group0/20/70/74/a3/b1/4d/49/0d/STM32L5-Analog-DAC_DAC/files/STM32L5-Analog-DAC_DAC.pdf/_jcr_content/translations/en.STM32L5-Analog-DAC_DAC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3vDEClilwM" TargetMode="External"/><Relationship Id="rId2" Type="http://schemas.openxmlformats.org/officeDocument/2006/relationships/hyperlink" Target="https://www.st.com/content/ccc/resource/training/technical/product_training/group0/c1/03/e7/32/e6/95/40/6b/STM32L5-Analog-Comparators_COMP/files/STM32L5-Analog-Comparators_COMP.pdf/_jcr_content/translations/en.STM32L5-Analog-Comparators_COMP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T22Yi8L4Wc" TargetMode="External"/><Relationship Id="rId2" Type="http://schemas.openxmlformats.org/officeDocument/2006/relationships/hyperlink" Target="https://www.st.com/content/ccc/resource/training/technical/product_training/group0/7f/4f/d3/9d/d3/94/4e/d3/STM32L5-Analog-Operational_Amplifier_OPAMP/files/STM32L5-Analog-Operational_Amplifier_OPAMP.pdf/_jcr_content/translations/en.STM32L5-Analog-Operational_Amplifier_OPAMP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C3F1C5-E83F-45E8-934F-45D6D0A95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D724530D-987C-43F7-938F-1FCF3C5BC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8514" y="1122363"/>
            <a:ext cx="6587413" cy="23876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Digital to Analog Converter (DAC), COMP and OPAMP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23C3D5D-C92F-4533-99A1-F608DFA38A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8512" y="3602038"/>
            <a:ext cx="6587415" cy="885986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ECE433/ECC533/CS456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345CA05-AAA1-4B89-9E32-AFB9BE60F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</p:spTree>
    <p:extLst>
      <p:ext uri="{BB962C8B-B14F-4D97-AF65-F5344CB8AC3E}">
        <p14:creationId xmlns:p14="http://schemas.microsoft.com/office/powerpoint/2010/main" val="1807402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9321-D822-4E04-94B5-6A35D8620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Digital Analog Converter (DAC)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DC39D-FEC4-4A88-B886-E2ABFE40A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hlinkClick r:id="rId2"/>
              </a:rPr>
              <a:t>STM32L5 DAC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hlinkClick r:id="rId3"/>
              </a:rPr>
              <a:t>https://www.youtube.com/watch?v=zGoTCO020ec</a:t>
            </a:r>
            <a:endParaRPr lang="en-US" sz="20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C4FA6-6B5A-49FF-A6E1-3BDF6D051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ECE433/533 Boise State University - 2025 - Fady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C5C9AA-489B-8420-EDF9-ACB67C9AA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2097" y="918633"/>
            <a:ext cx="3512293" cy="11340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C8BD07-F6C0-EA6E-F445-C3DD04419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5999" y="2575751"/>
            <a:ext cx="7889134" cy="428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91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B497ED-BE91-CC6A-E27B-CDF526763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349673-928E-22CC-822B-51F4EFA49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724" y="0"/>
            <a:ext cx="6134551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DBB8FB-2462-EBF9-9EC2-541BE466B907}"/>
              </a:ext>
            </a:extLst>
          </p:cNvPr>
          <p:cNvSpPr/>
          <p:nvPr/>
        </p:nvSpPr>
        <p:spPr>
          <a:xfrm>
            <a:off x="8890000" y="579967"/>
            <a:ext cx="218570" cy="624318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3028B7-86B5-6D34-81E2-49B68A31C75C}"/>
              </a:ext>
            </a:extLst>
          </p:cNvPr>
          <p:cNvSpPr/>
          <p:nvPr/>
        </p:nvSpPr>
        <p:spPr>
          <a:xfrm>
            <a:off x="7230533" y="2006600"/>
            <a:ext cx="1831470" cy="283633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908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8747F-6334-31B9-451F-432606A5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6 Tips (DAC Application)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85800-29E0-3857-B28A-08265CC02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57687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Enable DAC1 RCC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Enable GPIO in analog mode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Configure &amp; Enable DAC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Enable Timer RCC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Configure timer to interrupt every 10usec (to give you 100 samples per 1msec for 1KHz sinewave)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In the timer </a:t>
            </a:r>
            <a:r>
              <a:rPr lang="en-US" sz="2000" dirty="0" err="1"/>
              <a:t>IRQHandler</a:t>
            </a:r>
            <a:r>
              <a:rPr lang="en-US" sz="2000" dirty="0"/>
              <a:t>, set DAC to dac_val_12b using DHR12R1 register and re-enable it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DAAE27-45F2-FF60-6998-E4504A05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E2C62B-FE4C-A0E6-D925-85446E01B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865" y="594968"/>
            <a:ext cx="4325024" cy="246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543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9321-D822-4E04-94B5-6A35D8620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Comparator (COMP)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DC39D-FEC4-4A88-B886-E2ABFE40A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hlinkClick r:id="rId2"/>
              </a:rPr>
              <a:t>STM32L5 COMP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hlinkClick r:id="rId3"/>
              </a:rPr>
              <a:t>https://www.youtube.com/watch?v=C3vDEClilwM</a:t>
            </a:r>
            <a:endParaRPr lang="en-US" sz="20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C4FA6-6B5A-49FF-A6E1-3BDF6D051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4AECE4-90CE-3301-3E2B-8AC0D54E2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318" y="2672767"/>
            <a:ext cx="9965988" cy="41852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ADD075-4F92-78A1-870F-F413910A58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2481" y="185738"/>
            <a:ext cx="3313399" cy="141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150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close-up of a document&#10;&#10;Description automatically generated">
            <a:extLst>
              <a:ext uri="{FF2B5EF4-FFF2-40B4-BE49-F238E27FC236}">
                <a16:creationId xmlns:a16="http://schemas.microsoft.com/office/drawing/2014/main" id="{C3E1DDC5-170B-8A2E-5EAD-E477FEFB8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506983"/>
            <a:ext cx="10905066" cy="384403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45C60-6451-65BA-8AB4-BCA4D843E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ECE433/533 Boise State University - 2025 - Fady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6FC78B-FF31-403F-F9B2-9A06B400FA10}"/>
              </a:ext>
            </a:extLst>
          </p:cNvPr>
          <p:cNvSpPr/>
          <p:nvPr/>
        </p:nvSpPr>
        <p:spPr>
          <a:xfrm>
            <a:off x="10850033" y="2489200"/>
            <a:ext cx="222803" cy="982133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020A83-3BD2-9494-E074-2D49557C35E3}"/>
              </a:ext>
            </a:extLst>
          </p:cNvPr>
          <p:cNvSpPr/>
          <p:nvPr/>
        </p:nvSpPr>
        <p:spPr>
          <a:xfrm>
            <a:off x="9270999" y="2480736"/>
            <a:ext cx="766234" cy="982133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ACF778-2BA2-F18B-2953-43505391BA2F}"/>
              </a:ext>
            </a:extLst>
          </p:cNvPr>
          <p:cNvSpPr/>
          <p:nvPr/>
        </p:nvSpPr>
        <p:spPr>
          <a:xfrm>
            <a:off x="8729133" y="2480730"/>
            <a:ext cx="533399" cy="982133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FB16F9-66C0-01C2-99F4-DA158609EF45}"/>
              </a:ext>
            </a:extLst>
          </p:cNvPr>
          <p:cNvSpPr/>
          <p:nvPr/>
        </p:nvSpPr>
        <p:spPr>
          <a:xfrm>
            <a:off x="2992965" y="2501899"/>
            <a:ext cx="262468" cy="982133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726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8747F-6334-31B9-451F-432606A5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6 Tips (COMP Application)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85800-29E0-3857-B28A-08265CC02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57687" cy="4351338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Read the voltage of temp sensor at ambient (called V</a:t>
            </a:r>
            <a:r>
              <a:rPr lang="en-US" sz="2000" baseline="-25000" dirty="0"/>
              <a:t>T0</a:t>
            </a:r>
            <a:r>
              <a:rPr lang="en-US" sz="2000" dirty="0"/>
              <a:t>)</a:t>
            </a:r>
          </a:p>
          <a:p>
            <a:r>
              <a:rPr lang="en-US" sz="2000" dirty="0"/>
              <a:t>Enable DAC1 RCC</a:t>
            </a:r>
          </a:p>
          <a:p>
            <a:r>
              <a:rPr lang="en-US" sz="2000" dirty="0"/>
              <a:t>Set DAC1 to a value a little higher than V</a:t>
            </a:r>
            <a:r>
              <a:rPr lang="en-US" sz="2000" baseline="-25000" dirty="0"/>
              <a:t>T0 </a:t>
            </a:r>
            <a:r>
              <a:rPr lang="en-US" sz="2000" dirty="0"/>
              <a:t>(called V</a:t>
            </a:r>
            <a:r>
              <a:rPr lang="en-US" sz="2000" baseline="-25000" dirty="0"/>
              <a:t>T+</a:t>
            </a:r>
            <a:r>
              <a:rPr lang="en-US" sz="2000" dirty="0"/>
              <a:t>)</a:t>
            </a:r>
          </a:p>
          <a:p>
            <a:r>
              <a:rPr lang="en-US" sz="2000" dirty="0"/>
              <a:t>Configure DAC1 so its output is connected to chip peripherals internally (MCR register)</a:t>
            </a:r>
          </a:p>
          <a:p>
            <a:r>
              <a:rPr lang="en-US" sz="2000" dirty="0"/>
              <a:t>Enable DAC1</a:t>
            </a:r>
          </a:p>
          <a:p>
            <a:r>
              <a:rPr lang="en-US" sz="2000" dirty="0"/>
              <a:t>Enable COMP1 RCC</a:t>
            </a:r>
          </a:p>
          <a:p>
            <a:r>
              <a:rPr lang="en-US" sz="2000" dirty="0"/>
              <a:t>Enable GPIO in analog mode</a:t>
            </a:r>
          </a:p>
          <a:p>
            <a:r>
              <a:rPr lang="en-US" sz="2000" dirty="0"/>
              <a:t>Configure COMP1 inputs in CSR</a:t>
            </a:r>
          </a:p>
          <a:p>
            <a:r>
              <a:rPr lang="en-US" sz="2000" dirty="0"/>
              <a:t>Enable COMP1</a:t>
            </a:r>
          </a:p>
          <a:p>
            <a:r>
              <a:rPr lang="en-US" sz="2000" dirty="0"/>
              <a:t>Check COMP1 output in reg CSR and turn LED on if temp sensor voltage is higher than V</a:t>
            </a:r>
            <a:r>
              <a:rPr lang="en-US" sz="2000" baseline="-25000" dirty="0"/>
              <a:t>T+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DAAE27-45F2-FF60-6998-E4504A05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</p:spTree>
    <p:extLst>
      <p:ext uri="{BB962C8B-B14F-4D97-AF65-F5344CB8AC3E}">
        <p14:creationId xmlns:p14="http://schemas.microsoft.com/office/powerpoint/2010/main" val="148640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9321-D822-4E04-94B5-6A35D8620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 Amplifier (OPAMP)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DC39D-FEC4-4A88-B886-E2ABFE40A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hlinkClick r:id="rId2"/>
              </a:rPr>
              <a:t>STM32L5 OPAMP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hlinkClick r:id="rId3"/>
              </a:rPr>
              <a:t>https://www.youtube.com/watch?v=FT22Yi8L4Wc</a:t>
            </a:r>
            <a:endParaRPr lang="en-US" sz="20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C4FA6-6B5A-49FF-A6E1-3BDF6D051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AC23F1-2C79-4886-8EFE-938DF05BA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510" y="2609819"/>
            <a:ext cx="7400979" cy="424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13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002824-E8F8-10E7-0B51-BEC04DB493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6667" y="643466"/>
            <a:ext cx="7958665" cy="557106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D70D1-12F4-17A7-8F66-ABFE0696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ECE433/533 Boise State University - 2025 - Fady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88E09A-04C3-69F1-041B-87252E776129}"/>
              </a:ext>
            </a:extLst>
          </p:cNvPr>
          <p:cNvSpPr/>
          <p:nvPr/>
        </p:nvSpPr>
        <p:spPr>
          <a:xfrm>
            <a:off x="9791114" y="1392828"/>
            <a:ext cx="196948" cy="820489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338846-8AC0-D3AB-1A9F-33F121FB3181}"/>
              </a:ext>
            </a:extLst>
          </p:cNvPr>
          <p:cNvSpPr/>
          <p:nvPr/>
        </p:nvSpPr>
        <p:spPr>
          <a:xfrm>
            <a:off x="8811066" y="1392828"/>
            <a:ext cx="773722" cy="820489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A9F0EB-EB6F-468D-BC68-B04ED2781D69}"/>
              </a:ext>
            </a:extLst>
          </p:cNvPr>
          <p:cNvSpPr/>
          <p:nvPr/>
        </p:nvSpPr>
        <p:spPr>
          <a:xfrm>
            <a:off x="7821637" y="1423309"/>
            <a:ext cx="588499" cy="820489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F1077F-6235-497F-6897-D58998AF3207}"/>
              </a:ext>
            </a:extLst>
          </p:cNvPr>
          <p:cNvSpPr/>
          <p:nvPr/>
        </p:nvSpPr>
        <p:spPr>
          <a:xfrm>
            <a:off x="3659945" y="1411584"/>
            <a:ext cx="196948" cy="820489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76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8747F-6334-31B9-451F-432606A5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6 Tips (OPAMP Application)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85800-29E0-3857-B28A-08265CC02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57687" cy="4351338"/>
          </a:xfrm>
        </p:spPr>
        <p:txBody>
          <a:bodyPr>
            <a:normAutofit/>
          </a:bodyPr>
          <a:lstStyle/>
          <a:p>
            <a:r>
              <a:rPr lang="en-US" sz="2000" dirty="0"/>
              <a:t>Enable OPAMP1 RCC</a:t>
            </a:r>
          </a:p>
          <a:p>
            <a:r>
              <a:rPr lang="en-US" sz="2000" dirty="0"/>
              <a:t>Configure OPAMP1 to run in internal PGA mode with gain of 2 (CSR register)</a:t>
            </a:r>
          </a:p>
          <a:p>
            <a:r>
              <a:rPr lang="en-US" sz="2000" dirty="0"/>
              <a:t>Enable GPIO</a:t>
            </a:r>
          </a:p>
          <a:p>
            <a:r>
              <a:rPr lang="en-US" sz="2000" dirty="0"/>
              <a:t>Configure GPIO to analog</a:t>
            </a:r>
          </a:p>
          <a:p>
            <a:r>
              <a:rPr lang="en-US" sz="2000" dirty="0"/>
              <a:t>Configure GPIO connection to VINP (CSR[10])</a:t>
            </a:r>
          </a:p>
          <a:p>
            <a:r>
              <a:rPr lang="en-US" sz="2000" dirty="0"/>
              <a:t>Enable OPAMP </a:t>
            </a:r>
          </a:p>
          <a:p>
            <a:r>
              <a:rPr lang="en-US" sz="2000" dirty="0"/>
              <a:t>Enable ADC1 RCC</a:t>
            </a:r>
          </a:p>
          <a:p>
            <a:r>
              <a:rPr lang="en-US" sz="2000" dirty="0"/>
              <a:t>Enable ADC1 and connect it to OPAMP1 internally (SQR1)</a:t>
            </a:r>
          </a:p>
          <a:p>
            <a:r>
              <a:rPr lang="en-US" sz="2000" dirty="0"/>
              <a:t>ADC value will be twice of what you have seen in previous lab!</a:t>
            </a:r>
          </a:p>
          <a:p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DAAE27-45F2-FF60-6998-E4504A05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</p:spTree>
    <p:extLst>
      <p:ext uri="{BB962C8B-B14F-4D97-AF65-F5344CB8AC3E}">
        <p14:creationId xmlns:p14="http://schemas.microsoft.com/office/powerpoint/2010/main" val="201121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35267</TotalTime>
  <Words>375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Digital to Analog Converter (DAC), COMP and OPAMP</vt:lpstr>
      <vt:lpstr>Digital Analog Converter (DAC)</vt:lpstr>
      <vt:lpstr>PowerPoint Presentation</vt:lpstr>
      <vt:lpstr>LAB 6 Tips (DAC Application)</vt:lpstr>
      <vt:lpstr>Comparator (COMP)</vt:lpstr>
      <vt:lpstr>PowerPoint Presentation</vt:lpstr>
      <vt:lpstr>LAB 6 Tips (COMP Application)</vt:lpstr>
      <vt:lpstr>Operational Amplifier (OPAMP)</vt:lpstr>
      <vt:lpstr>PowerPoint Presentation</vt:lpstr>
      <vt:lpstr>LAB 6 Tips (OPAMP Application)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&amp; Portable Computing Systems  (ECE433/ECC533)</dc:title>
  <dc:creator>Fady Hussein</dc:creator>
  <cp:lastModifiedBy>Fady Hussein</cp:lastModifiedBy>
  <cp:revision>139</cp:revision>
  <dcterms:created xsi:type="dcterms:W3CDTF">2019-01-12T15:06:13Z</dcterms:created>
  <dcterms:modified xsi:type="dcterms:W3CDTF">2025-03-03T20:01:59Z</dcterms:modified>
</cp:coreProperties>
</file>